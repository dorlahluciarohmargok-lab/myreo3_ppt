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spPr>
              <a:solidFill>
                <a:srgbClr val="2997FF"/>
              </a:solidFill>
            </c:spPr>
          </c:dPt>
          <c:dPt>
            <c:idx val="1"/>
            <c:spPr>
              <a:solidFill>
                <a:srgbClr val="5AC8FA"/>
              </a:solidFill>
            </c:spPr>
          </c:dPt>
          <c:dPt>
            <c:idx val="2"/>
            <c:spPr>
              <a:solidFill>
                <a:srgbClr val="30D158"/>
              </a:solidFill>
            </c:spPr>
          </c:dPt>
          <c:dPt>
            <c:idx val="3"/>
            <c:spPr>
              <a:solidFill>
                <a:srgbClr val="BF5AF2"/>
              </a:solidFill>
            </c:spPr>
          </c:dPt>
          <c:dPt>
            <c:idx val="4"/>
            <c:spPr>
              <a:solidFill>
                <a:srgbClr val="FF9F0A"/>
              </a:solidFill>
            </c:spPr>
          </c:dPt>
          <c:cat>
            <c:strRef>
              <c:f>Sheet1!$A$2:$A$6</c:f>
              <c:strCache>
                <c:ptCount val="5"/>
                <c:pt idx="0">
                  <c:v>iPhone
$57.0B</c:v>
                </c:pt>
                <c:pt idx="1">
                  <c:v>Services
$31.0B</c:v>
                </c:pt>
                <c:pt idx="2">
                  <c:v>Mac
$8.4B</c:v>
                </c:pt>
                <c:pt idx="3">
                  <c:v>Wearables
$7.9B</c:v>
                </c:pt>
                <c:pt idx="4">
                  <c:v>iPad
$6.9B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57.0</c:v>
                </c:pt>
                <c:pt idx="1">
                  <c:v>31.0</c:v>
                </c:pt>
                <c:pt idx="2">
                  <c:v>8.4</c:v>
                </c:pt>
                <c:pt idx="3">
                  <c:v>7.9</c:v>
                </c:pt>
                <c:pt idx="4">
                  <c:v>6.9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F5F5F7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YoY Growth %</c:v>
                </c:pt>
              </c:strCache>
            </c:strRef>
          </c:tx>
          <c:spPr>
            <a:solidFill>
              <a:srgbClr val="2997FF"/>
            </a:solidFill>
          </c:spPr>
          <c:cat>
            <c:strRef>
              <c:f>Sheet1!$A$2:$A$6</c:f>
              <c:strCache>
                <c:ptCount val="5"/>
                <c:pt idx="0">
                  <c:v>iPhone</c:v>
                </c:pt>
                <c:pt idx="1">
                  <c:v>Services</c:v>
                </c:pt>
                <c:pt idx="2">
                  <c:v>iPad</c:v>
                </c:pt>
                <c:pt idx="3">
                  <c:v>Mac</c:v>
                </c:pt>
                <c:pt idx="4">
                  <c:v>Wearables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16</c:v>
                </c:pt>
                <c:pt idx="2">
                  <c:v>8</c:v>
                </c:pt>
                <c:pt idx="3">
                  <c:v>6</c:v>
                </c:pt>
                <c:pt idx="4">
                  <c:v>5</c:v>
                </c:pt>
              </c:numCache>
            </c:numRef>
          </c:val>
        </c:ser>
        <c:dLbls>
          <c:numFmt formatCode="+0&quot;%&quot;" sourceLinked="0"/>
          <c:txPr>
            <a:bodyPr/>
            <a:lstStyle/>
            <a:p>
              <a:pPr>
                <a:defRPr sz="1200" b="1">
                  <a:solidFill>
                    <a:srgbClr val="F5F5F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5F5F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686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Q2 FY2025</c:v>
                </c:pt>
              </c:strCache>
            </c:strRef>
          </c:tx>
          <c:spPr>
            <a:solidFill>
              <a:srgbClr val="44444C"/>
            </a:solidFill>
          </c:spPr>
          <c:cat>
            <c:strRef>
              <c:f>Sheet1!$A$2:$A$5</c:f>
              <c:strCache>
                <c:ptCount val="4"/>
                <c:pt idx="0">
                  <c:v>Revenue ($B)</c:v>
                </c:pt>
                <c:pt idx="1">
                  <c:v>Net Income ($B)</c:v>
                </c:pt>
                <c:pt idx="2">
                  <c:v>EPS ($)</c:v>
                </c:pt>
                <c:pt idx="3">
                  <c:v>Gross Margin (%)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95.4</c:v>
                </c:pt>
                <c:pt idx="1">
                  <c:v>24.8</c:v>
                </c:pt>
                <c:pt idx="2">
                  <c:v>1.65</c:v>
                </c:pt>
                <c:pt idx="3">
                  <c:v>47.1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 FY2026</c:v>
                </c:pt>
              </c:strCache>
            </c:strRef>
          </c:tx>
          <c:spPr>
            <a:solidFill>
              <a:srgbClr val="2997FF"/>
            </a:solidFill>
          </c:spPr>
          <c:cat>
            <c:strRef>
              <c:f>Sheet1!$A$2:$A$5</c:f>
              <c:strCache>
                <c:ptCount val="4"/>
                <c:pt idx="0">
                  <c:v>Revenue ($B)</c:v>
                </c:pt>
                <c:pt idx="1">
                  <c:v>Net Income ($B)</c:v>
                </c:pt>
                <c:pt idx="2">
                  <c:v>EPS ($)</c:v>
                </c:pt>
                <c:pt idx="3">
                  <c:v>Gross Margin (%)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111.2</c:v>
                </c:pt>
                <c:pt idx="1">
                  <c:v>29.6</c:v>
                </c:pt>
                <c:pt idx="2">
                  <c:v>2.01</c:v>
                </c:pt>
                <c:pt idx="3">
                  <c:v>49.3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F5F5F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5F5F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6868B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200">
              <a:solidFill>
                <a:srgbClr val="F5F5F7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Q2 FY2026</c:v>
                </c:pt>
              </c:strCache>
            </c:strRef>
          </c:tx>
          <c:dPt>
            <c:idx val="0"/>
            <c:spPr>
              <a:solidFill>
                <a:srgbClr val="5AC8FA"/>
              </a:solidFill>
            </c:spPr>
          </c:dPt>
          <c:dPt>
            <c:idx val="1"/>
            <c:spPr>
              <a:solidFill>
                <a:srgbClr val="FF9F0A"/>
              </a:solidFill>
            </c:spPr>
          </c:dPt>
          <c:dPt>
            <c:idx val="2"/>
            <c:spPr>
              <a:solidFill>
                <a:srgbClr val="30D158"/>
              </a:solidFill>
            </c:spPr>
          </c:dPt>
          <c:cat>
            <c:strRef>
              <c:f>Sheet1!$A$2:$A$4</c:f>
              <c:strCache>
                <c:ptCount val="3"/>
                <c:pt idx="0">
                  <c:v>Overall Margin</c:v>
                </c:pt>
                <c:pt idx="1">
                  <c:v>Product Margin</c:v>
                </c:pt>
                <c:pt idx="2">
                  <c:v>Services Margin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49.3</c:v>
                </c:pt>
                <c:pt idx="1">
                  <c:v>38.7</c:v>
                </c:pt>
                <c:pt idx="2">
                  <c:v>76.7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400" b="1">
                  <a:solidFill>
                    <a:srgbClr val="F5F5F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5F5F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686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ln w="38100">
              <a:solidFill>
                <a:srgbClr val="2997FF"/>
              </a:solidFill>
            </a:ln>
          </c:spPr>
          <c:marker>
            <c:symbol val="circle"/>
            <c:size val="10"/>
            <c:spPr>
              <a:solidFill>
                <a:srgbClr val="2997FF"/>
              </a:solidFill>
            </c:spPr>
          </c:marker>
          <c:cat>
            <c:strRef>
              <c:f>Sheet1!$A$2:$A$7</c:f>
              <c:strCache>
                <c:ptCount val="6"/>
                <c:pt idx="0">
                  <c:v>Q1 FY25</c:v>
                </c:pt>
                <c:pt idx="1">
                  <c:v>Q2 FY25</c:v>
                </c:pt>
                <c:pt idx="2">
                  <c:v>Q3 FY25</c:v>
                </c:pt>
                <c:pt idx="3">
                  <c:v>Q4 FY25</c:v>
                </c:pt>
                <c:pt idx="4">
                  <c:v>Q1 FY26</c:v>
                </c:pt>
                <c:pt idx="5">
                  <c:v>Q2 FY26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124.3</c:v>
                </c:pt>
                <c:pt idx="1">
                  <c:v>95.4</c:v>
                </c:pt>
                <c:pt idx="2">
                  <c:v>85.8</c:v>
                </c:pt>
                <c:pt idx="3">
                  <c:v>94.9</c:v>
                </c:pt>
                <c:pt idx="4">
                  <c:v>124.3</c:v>
                </c:pt>
                <c:pt idx="5">
                  <c:v>111.2</c:v>
                </c:pt>
              </c:numCache>
            </c:numRef>
          </c:val>
          <c:smooth val="0"/>
        </c:ser>
        <c:dLbls>
          <c:numFmt formatCode="&quot;$&quot;0.0&quot;B&quot;" sourceLinked="0"/>
          <c:txPr>
            <a:bodyPr/>
            <a:lstStyle/>
            <a:p>
              <a:pPr>
                <a:defRPr sz="1100" b="1">
                  <a:solidFill>
                    <a:srgbClr val="F5F5F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5F5F7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6868B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Capital Return</c:v>
                </c:pt>
              </c:strCache>
            </c:strRef>
          </c:tx>
          <c:dPt>
            <c:idx val="0"/>
            <c:spPr>
              <a:solidFill>
                <a:srgbClr val="2997FF"/>
              </a:solidFill>
            </c:spPr>
          </c:dPt>
          <c:dPt>
            <c:idx val="1"/>
            <c:spPr>
              <a:solidFill>
                <a:srgbClr val="30D158"/>
              </a:solidFill>
            </c:spPr>
          </c:dPt>
          <c:dPt>
            <c:idx val="2"/>
            <c:spPr>
              <a:solidFill>
                <a:srgbClr val="FF9F0A"/>
              </a:solidFill>
            </c:spPr>
          </c:dPt>
          <c:cat>
            <c:strRef>
              <c:f>Sheet1!$A$2:$A$4</c:f>
              <c:strCache>
                <c:ptCount val="3"/>
                <c:pt idx="0">
                  <c:v>Share Repurchases
$11B</c:v>
                </c:pt>
                <c:pt idx="1">
                  <c:v>Quarterly Dividend
$0.27/share</c:v>
                </c:pt>
                <c:pt idx="2">
                  <c:v>New Authorization
$100B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4</c:v>
                </c:pt>
                <c:pt idx="2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F5F5F7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/>
      <c:txPr>
        <a:bodyPr/>
        <a:lstStyle/>
        <a:p>
          <a:pPr>
            <a:defRPr sz="1200">
              <a:solidFill>
                <a:srgbClr val="F5F5F7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0" y="13716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0">
                <a:solidFill>
                  <a:srgbClr val="F5F5F7"/>
                </a:solidFill>
                <a:latin typeface="Helvetica Neue"/>
              </a:defRPr>
            </a:pPr>
            <a:r>
              <a:t>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286000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6868B"/>
                </a:solidFill>
                <a:latin typeface="Helvetica Neue"/>
              </a:defRPr>
            </a:pPr>
            <a:r>
              <a:t>Fiscal Year 2026  |  Q2 Financial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5F5F7"/>
                </a:solidFill>
                <a:latin typeface="Helvetica Neue"/>
              </a:defRPr>
            </a:pPr>
            <a:r>
              <a:t>A Record March Quarter.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6868B"/>
                </a:solidFill>
                <a:latin typeface="Helvetica Neue"/>
              </a:defRPr>
            </a:pPr>
            <a:r>
              <a:t>Revenue $111.2B  ·  EPS $2.01  ·  April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F5F7"/>
                </a:solidFill>
                <a:latin typeface="Helvetica Neue"/>
              </a:defRPr>
            </a:pPr>
            <a:r>
              <a:t>Core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6868B"/>
                </a:solidFill>
                <a:latin typeface="Helvetica Neue"/>
              </a:defRPr>
            </a:pPr>
            <a:r>
              <a:t>Record-breaking results across all key financial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2011680"/>
          </a:xfrm>
          <a:prstGeom prst="round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997FF"/>
                </a:solidFill>
                <a:latin typeface="Helvetica Neue"/>
              </a:defRPr>
            </a:pPr>
            <a:r>
              <a:t>$111.2B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6868B"/>
                </a:solidFill>
                <a:latin typeface="Helvetica Neue"/>
              </a:defRPr>
            </a:pPr>
            <a: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0D158"/>
                </a:solidFill>
                <a:latin typeface="Helvetica Neue"/>
              </a:defRPr>
            </a:pPr>
            <a:r>
              <a:t>+17% YoY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474720" cy="2011680"/>
          </a:xfrm>
          <a:prstGeom prst="round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7CE68"/>
                </a:solidFill>
                <a:latin typeface="Helvetica Neue"/>
              </a:defRPr>
            </a:pPr>
            <a:r>
              <a:t>$29.6B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6868B"/>
                </a:solidFill>
                <a:latin typeface="Helvetica Neue"/>
              </a:defRPr>
            </a:pPr>
            <a:r>
              <a:t>NET INCOME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291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0D158"/>
                </a:solidFill>
                <a:latin typeface="Helvetica Neue"/>
              </a:defRPr>
            </a:pPr>
            <a:r>
              <a:t>+19% YoY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474720" cy="2011680"/>
          </a:xfrm>
          <a:prstGeom prst="round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F5F7"/>
                </a:solidFill>
                <a:latin typeface="Helvetica Neue"/>
              </a:defRPr>
            </a:pPr>
            <a:r>
              <a:t>$2.01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6868B"/>
                </a:solidFill>
                <a:latin typeface="Helvetica Neue"/>
              </a:defRPr>
            </a:pPr>
            <a:r>
              <a:t>DILUTED 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91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0D158"/>
                </a:solidFill>
                <a:latin typeface="Helvetica Neue"/>
              </a:defRPr>
            </a:pPr>
            <a:r>
              <a:t>+22% YoY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3474720" cy="2011680"/>
          </a:xfrm>
          <a:prstGeom prst="round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AC8FA"/>
                </a:solidFill>
                <a:latin typeface="Helvetica Neue"/>
              </a:defRPr>
            </a:pPr>
            <a:r>
              <a:t>49.3%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03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6868B"/>
                </a:solidFill>
                <a:latin typeface="Helvetica Neue"/>
              </a:defRPr>
            </a:pPr>
            <a:r>
              <a:t>GROSS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669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0D158"/>
                </a:solidFill>
                <a:latin typeface="Helvetica Neue"/>
              </a:defRPr>
            </a:pPr>
            <a:r>
              <a:t>+220 bps YoY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4206240"/>
            <a:ext cx="3474720" cy="2011680"/>
          </a:xfrm>
          <a:prstGeom prst="round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F5AF2"/>
                </a:solidFill>
                <a:latin typeface="Helvetica Neue"/>
              </a:defRPr>
            </a:pPr>
            <a:r>
              <a:t>$18.9B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5303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6868B"/>
                </a:solidFill>
                <a:latin typeface="Helvetica Neue"/>
              </a:defRPr>
            </a:pPr>
            <a:r>
              <a:t>OPERATING EXPENSES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5669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0D158"/>
                </a:solidFill>
                <a:latin typeface="Helvetica Neue"/>
              </a:defRPr>
            </a:pPr>
            <a:r>
              <a:t>+24% YoY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206240"/>
            <a:ext cx="3474720" cy="2011680"/>
          </a:xfrm>
          <a:prstGeom prst="roundRect">
            <a:avLst/>
          </a:prstGeom>
          <a:solidFill>
            <a:srgbClr val="1A1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0D158"/>
                </a:solidFill>
                <a:latin typeface="Helvetica Neue"/>
              </a:defRPr>
            </a:pPr>
            <a:r>
              <a:t>$28.7B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303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6868B"/>
                </a:solidFill>
                <a:latin typeface="Helvetica Neue"/>
              </a:defRPr>
            </a:pPr>
            <a:r>
              <a:t>OPERATING CASH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669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0D158"/>
                </a:solidFill>
                <a:latin typeface="Helvetica Neue"/>
              </a:defRPr>
            </a:pPr>
            <a:r>
              <a:t>Strong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F5F7"/>
                </a:solidFill>
                <a:latin typeface="Helvetica Neue"/>
              </a:defRPr>
            </a:pPr>
            <a:r>
              <a:t>Revenue by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6868B"/>
                </a:solidFill>
                <a:latin typeface="Helvetica Neue"/>
              </a:defRPr>
            </a:pPr>
            <a:r>
              <a:t>Product and services mix for Q2 FY2026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645920"/>
          <a:ext cx="5029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val 4"/>
          <p:cNvSpPr/>
          <p:nvPr/>
        </p:nvSpPr>
        <p:spPr>
          <a:xfrm>
            <a:off x="7315200" y="2103120"/>
            <a:ext cx="182880" cy="182880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7"/>
                </a:solidFill>
                <a:latin typeface="Helvetica Neue"/>
              </a:defRPr>
            </a:pPr>
            <a:r>
              <a:t>iPhone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Helvetica Neue"/>
              </a:defRPr>
            </a:pPr>
            <a:r>
              <a:t>$57.0B (51.3%)</a:t>
            </a:r>
          </a:p>
        </p:txBody>
      </p:sp>
      <p:sp>
        <p:nvSpPr>
          <p:cNvPr id="8" name="Oval 7"/>
          <p:cNvSpPr/>
          <p:nvPr/>
        </p:nvSpPr>
        <p:spPr>
          <a:xfrm>
            <a:off x="7315200" y="2743200"/>
            <a:ext cx="182880" cy="182880"/>
          </a:xfrm>
          <a:prstGeom prst="ellipse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7"/>
                </a:solidFill>
                <a:latin typeface="Helvetica Neue"/>
              </a:defRPr>
            </a:pPr>
            <a:r>
              <a:t>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Helvetica Neue"/>
              </a:defRPr>
            </a:pPr>
            <a:r>
              <a:t>$31.0B (27.9%)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3383280"/>
            <a:ext cx="182880" cy="18288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7"/>
                </a:solidFill>
                <a:latin typeface="Helvetica Neue"/>
              </a:defRPr>
            </a:pPr>
            <a:r>
              <a:t>Mac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Helvetica Neue"/>
              </a:defRPr>
            </a:pPr>
            <a:r>
              <a:t>$8.4B (7.6%)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4023360"/>
            <a:ext cx="182880" cy="182880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7"/>
                </a:solidFill>
                <a:latin typeface="Helvetica Neue"/>
              </a:defRPr>
            </a:pPr>
            <a:r>
              <a:t>Wearables &amp; 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Helvetica Neue"/>
              </a:defRPr>
            </a:pPr>
            <a:r>
              <a:t>$7.9B (7.1%)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4663440"/>
            <a:ext cx="182880" cy="182880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7"/>
                </a:solidFill>
                <a:latin typeface="Helvetica Neue"/>
              </a:defRPr>
            </a:pPr>
            <a:r>
              <a:t>iPad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Helvetica Neue"/>
              </a:defRPr>
            </a:pPr>
            <a:r>
              <a:t>$6.9B (6.2%)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F5F7"/>
                </a:solidFill>
                <a:latin typeface="Helvetica Neue"/>
              </a:defRPr>
            </a:pPr>
            <a:r>
              <a:t>Segment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6868B"/>
                </a:solidFill>
                <a:latin typeface="Helvetica Neue"/>
              </a:defRPr>
            </a:pPr>
            <a:r>
              <a:t>Year-over-year revenue growth by business segment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645920"/>
          <a:ext cx="9601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F5F7"/>
                </a:solidFill>
                <a:latin typeface="Helvetica Neue"/>
              </a:defRPr>
            </a:pPr>
            <a:r>
              <a:t>Year-over-Year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6868B"/>
                </a:solidFill>
                <a:latin typeface="Helvetica Neue"/>
              </a:defRPr>
            </a:pPr>
            <a:r>
              <a:t>Q2 FY2025 vs Q2 FY2026 side-by-side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645920"/>
          <a:ext cx="9601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F5F7"/>
                </a:solidFill>
                <a:latin typeface="Helvetica Neue"/>
              </a:defRPr>
            </a:pPr>
            <a:r>
              <a:t>Gross Margin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6868B"/>
                </a:solidFill>
                <a:latin typeface="Helvetica Neue"/>
              </a:defRPr>
            </a:pPr>
            <a:r>
              <a:t>Profitability breakdown: Overall vs Product vs Services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286000" y="1828800"/>
          <a:ext cx="7772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F5F7"/>
                </a:solidFill>
                <a:latin typeface="Helvetica Neue"/>
              </a:defRPr>
            </a:pPr>
            <a:r>
              <a:t>Revenue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6868B"/>
                </a:solidFill>
                <a:latin typeface="Helvetica Neue"/>
              </a:defRPr>
            </a:pPr>
            <a:r>
              <a:t>Quarterly revenue trend - Record March quarter highlighted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645920"/>
          <a:ext cx="9601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F5F7"/>
                </a:solidFill>
                <a:latin typeface="Helvetica Neue"/>
              </a:defRPr>
            </a:pPr>
            <a:r>
              <a:t>Capital &amp; Balance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6868B"/>
                </a:solidFill>
                <a:latin typeface="Helvetica Neue"/>
              </a:defRPr>
            </a:pPr>
            <a:r>
              <a:t>Strong financial position and shareholder returns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4389120" cy="2011680"/>
          </a:xfrm>
          <a:prstGeom prst="round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6868B"/>
                </a:solidFill>
                <a:latin typeface="Helvetica Neue"/>
              </a:defRPr>
            </a:pPr>
            <a:r>
              <a:t>Cash &amp; Securities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5AC8FA"/>
                </a:solidFill>
                <a:latin typeface="Helvetica Neue"/>
              </a:defRPr>
            </a:pPr>
            <a:r>
              <a:t>$147B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Helvetica Neue"/>
              </a:defRPr>
            </a:pPr>
            <a:r>
              <a:t>Total liquid assets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389120" cy="2011680"/>
          </a:xfrm>
          <a:prstGeom prst="round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6868B"/>
                </a:solidFill>
                <a:latin typeface="Helvetica Neue"/>
              </a:defRPr>
            </a:pPr>
            <a:r>
              <a:t>Total Debt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453A"/>
                </a:solidFill>
                <a:latin typeface="Helvetica Neue"/>
              </a:defRPr>
            </a:pPr>
            <a:r>
              <a:t>$85B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Helvetica Neue"/>
              </a:defRPr>
            </a:pPr>
            <a:r>
              <a:t>Long &amp; short-term obligations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206240"/>
            <a:ext cx="4389120" cy="2011680"/>
          </a:xfrm>
          <a:prstGeom prst="round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6868B"/>
                </a:solidFill>
                <a:latin typeface="Helvetica Neue"/>
              </a:defRPr>
            </a:pPr>
            <a:r>
              <a:t>Net Cash 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937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0D158"/>
                </a:solidFill>
                <a:latin typeface="Helvetica Neue"/>
              </a:defRPr>
            </a:pPr>
            <a:r>
              <a:t>$62B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Helvetica Neue"/>
              </a:defRPr>
            </a:pPr>
            <a:r>
              <a:t>Cash minus total debt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06240"/>
            <a:ext cx="4389120" cy="2011680"/>
          </a:xfrm>
          <a:prstGeom prst="round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6868B"/>
                </a:solidFill>
                <a:latin typeface="Helvetica Neue"/>
              </a:defRPr>
            </a:pPr>
            <a:r>
              <a:t>Operating Cash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937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BF5AF2"/>
                </a:solidFill>
                <a:latin typeface="Helvetica Neue"/>
              </a:defRPr>
            </a:pPr>
            <a:r>
              <a:t>$28.7B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Helvetica Neue"/>
              </a:defRPr>
            </a:pPr>
            <a:r>
              <a:t>Generated this quarter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F5F7"/>
                </a:solidFill>
                <a:latin typeface="Helvetica Neue"/>
              </a:defRPr>
            </a:pPr>
            <a:r>
              <a:t>Shareholder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6868B"/>
                </a:solidFill>
                <a:latin typeface="Helvetica Neue"/>
              </a:defRPr>
            </a:pPr>
            <a:r>
              <a:t>Capital allocation and dividend program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645920"/>
          <a:ext cx="54864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Helvetica Neue"/>
              </a:defRPr>
            </a:pPr>
            <a:r>
              <a:t>Share Repurchases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331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97FF"/>
                </a:solidFill>
                <a:latin typeface="Helvetica Neue"/>
              </a:defRPr>
            </a:pPr>
            <a:r>
              <a:t>$11B (42M shares)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Helvetica Neue"/>
              </a:defRPr>
            </a:pPr>
            <a:r>
              <a:t>Quarterly Dividend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246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D158"/>
                </a:solidFill>
                <a:latin typeface="Helvetica Neue"/>
              </a:defRPr>
            </a:pPr>
            <a:r>
              <a:t>$0.27/share (+4%)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840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Helvetica Neue"/>
              </a:defRPr>
            </a:pPr>
            <a:r>
              <a:t>New Buyback Auth.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160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0A"/>
                </a:solidFill>
                <a:latin typeface="Helvetica Neue"/>
              </a:defRPr>
            </a:pPr>
            <a:r>
              <a:t>$100B additional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754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Helvetica Neue"/>
              </a:defRPr>
            </a:pPr>
            <a:r>
              <a:t>Payment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074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7"/>
                </a:solidFill>
                <a:latin typeface="Helvetica Neue"/>
              </a:defRPr>
            </a:pPr>
            <a:r>
              <a:t>May 14,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F5F7"/>
                </a:solidFill>
                <a:latin typeface="Helvetica Neue"/>
              </a:defRPr>
            </a:pPr>
            <a:r>
              <a:t>Detailed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6868B"/>
                </a:solidFill>
                <a:latin typeface="Helvetica Neue"/>
              </a:defRPr>
            </a:pPr>
            <a:r>
              <a:t>Q2 FY2025 vs Q2 FY2026 side-by-side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828800"/>
          <a:ext cx="8686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2011680"/>
                <a:gridCol w="1920240"/>
              </a:tblGrid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86868B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86868B"/>
                          </a:solidFill>
                        </a:defRPr>
                      </a:pPr>
                      <a:r>
                        <a:t>Q2 FY2025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86868B"/>
                          </a:solidFill>
                        </a:defRPr>
                      </a:pPr>
                      <a:r>
                        <a:t>Q2 FY2026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86868B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A1A1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6868B"/>
                          </a:solidFill>
                        </a:defRPr>
                      </a:pPr>
                      <a:r>
                        <a:t>$95.4B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7"/>
                          </a:solidFill>
                        </a:defRPr>
                      </a:pPr>
                      <a:r>
                        <a:t>$111.2B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0D158"/>
                          </a:solidFill>
                        </a:defRPr>
                      </a:pPr>
                      <a:r>
                        <a:t>+17%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Net Income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6868B"/>
                          </a:solidFill>
                        </a:defRPr>
                      </a:pPr>
                      <a:r>
                        <a:t>$24.8B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7"/>
                          </a:solidFill>
                        </a:defRPr>
                      </a:pPr>
                      <a:r>
                        <a:t>$29.6B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0D158"/>
                          </a:solidFill>
                        </a:defRPr>
                      </a:pPr>
                      <a:r>
                        <a:t>+19%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Diluted EPS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6868B"/>
                          </a:solidFill>
                        </a:defRPr>
                      </a:pPr>
                      <a:r>
                        <a:t>$1.65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7"/>
                          </a:solidFill>
                        </a:defRPr>
                      </a:pPr>
                      <a:r>
                        <a:t>$2.01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0D158"/>
                          </a:solidFill>
                        </a:defRPr>
                      </a:pPr>
                      <a:r>
                        <a:t>+22%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Gross Margin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6868B"/>
                          </a:solidFill>
                        </a:defRPr>
                      </a:pPr>
                      <a:r>
                        <a:t>47.1%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7"/>
                          </a:solidFill>
                        </a:defRPr>
                      </a:pPr>
                      <a:r>
                        <a:t>49.3%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0D158"/>
                          </a:solidFill>
                        </a:defRPr>
                      </a:pPr>
                      <a:r>
                        <a:t>+220 bps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iPhone Revenue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6868B"/>
                          </a:solidFill>
                        </a:defRPr>
                      </a:pPr>
                      <a:r>
                        <a:t>$46.7B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7"/>
                          </a:solidFill>
                        </a:defRPr>
                      </a:pPr>
                      <a:r>
                        <a:t>$57.0B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0D158"/>
                          </a:solidFill>
                        </a:defRPr>
                      </a:pPr>
                      <a:r>
                        <a:t>+22%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5F7"/>
                          </a:solidFill>
                        </a:defRPr>
                      </a:pPr>
                      <a:r>
                        <a:t>Services Revenue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86868B"/>
                          </a:solidFill>
                        </a:defRPr>
                      </a:pPr>
                      <a:r>
                        <a:t>$26.7B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7"/>
                          </a:solidFill>
                        </a:defRPr>
                      </a:pPr>
                      <a:r>
                        <a:t>$31.0B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0D158"/>
                          </a:solidFill>
                        </a:defRPr>
                      </a:pPr>
                      <a:r>
                        <a:t>+16%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F5F7"/>
                </a:solidFill>
                <a:latin typeface="Helvetica Neue"/>
              </a:defRPr>
            </a:pPr>
            <a:r>
              <a:t>Key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6868B"/>
                </a:solidFill>
                <a:latin typeface="Helvetica Neue"/>
              </a:defRPr>
            </a:pPr>
            <a:r>
              <a:t>Strategic milestones and business developments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783080"/>
            <a:ext cx="182880" cy="182880"/>
          </a:xfrm>
          <a:prstGeom prst="ellipse">
            <a:avLst/>
          </a:prstGeom>
          <a:solidFill>
            <a:srgbClr val="2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97FF"/>
                </a:solidFill>
                <a:latin typeface="Helvetica Neue"/>
              </a:defRPr>
            </a:pPr>
            <a:r>
              <a:t>iPhone 17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Helvetica Neue"/>
              </a:defRPr>
            </a:pPr>
            <a:r>
              <a:t>Most popular lineup in company history, driving 22% growth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2743200"/>
            <a:ext cx="182880" cy="182880"/>
          </a:xfrm>
          <a:prstGeom prst="ellipse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06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AC8FA"/>
                </a:solidFill>
                <a:latin typeface="Helvetica Neue"/>
              </a:defRPr>
            </a:pPr>
            <a:r>
              <a:t>March Quarter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71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Helvetica Neue"/>
              </a:defRPr>
            </a:pPr>
            <a:r>
              <a:t>Exceeded 13-16% guidance, achieved 17% actual growth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703320"/>
            <a:ext cx="182880" cy="18288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D158"/>
                </a:solidFill>
                <a:latin typeface="Helvetica Neue"/>
              </a:defRPr>
            </a:pPr>
            <a:r>
              <a:t>Services Momentum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Helvetica Neue"/>
              </a:defRPr>
            </a:pPr>
            <a:r>
              <a:t>$31.0B revenue with 76.7% gross margin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4663440"/>
            <a:ext cx="182880" cy="182880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5AF2"/>
                </a:solidFill>
                <a:latin typeface="Helvetica Neue"/>
              </a:defRPr>
            </a:pPr>
            <a:r>
              <a:t>Leadership Transition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92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Helvetica Neue"/>
              </a:defRPr>
            </a:pPr>
            <a:r>
              <a:t>Tim Cook CEO succession plan announced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5623560"/>
            <a:ext cx="182880" cy="182880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0A"/>
                </a:solidFill>
                <a:latin typeface="Helvetica Neue"/>
              </a:defRPr>
            </a:pPr>
            <a:r>
              <a:t>Supply Challenges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852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868B"/>
                </a:solidFill>
                <a:latin typeface="Helvetica Neue"/>
              </a:defRPr>
            </a:pPr>
            <a:r>
              <a:t>Strong results despite constraints and memory cost increases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F5F7"/>
                </a:solidFill>
                <a:latin typeface="Helvetica Neue"/>
              </a:defRPr>
            </a:pPr>
            <a:r>
              <a:t>Q3 FY2026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6868B"/>
                </a:solidFill>
                <a:latin typeface="Helvetica Neue"/>
              </a:defRPr>
            </a:pPr>
            <a:r>
              <a:t>Forward guidance for the June quarter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4114800" cy="1828800"/>
          </a:xfrm>
          <a:prstGeom prst="roundRect">
            <a:avLst/>
          </a:prstGeom>
          <a:solidFill>
            <a:srgbClr val="12121A"/>
          </a:solidFill>
          <a:ln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Helvetica Neue"/>
              </a:defRPr>
            </a:pPr>
            <a:r>
              <a:t>Gross Margin Guidance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9260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AC8FA"/>
                </a:solidFill>
                <a:latin typeface="Helvetica Neue"/>
              </a:defRPr>
            </a:pPr>
            <a:r>
              <a:t>47.5% - 48.5%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4114800" cy="1828800"/>
          </a:xfrm>
          <a:prstGeom prst="roundRect">
            <a:avLst/>
          </a:prstGeom>
          <a:solidFill>
            <a:srgbClr val="12121A"/>
          </a:solidFill>
          <a:ln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Helvetica Neue"/>
              </a:defRPr>
            </a:pPr>
            <a:r>
              <a:t>Operating Expenses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9260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F5AF2"/>
                </a:solidFill>
                <a:latin typeface="Helvetica Neue"/>
              </a:defRPr>
            </a:pPr>
            <a:r>
              <a:t>$18.8B - $19.1B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206240"/>
            <a:ext cx="4114800" cy="1828800"/>
          </a:xfrm>
          <a:prstGeom prst="roundRect">
            <a:avLst/>
          </a:prstGeom>
          <a:solidFill>
            <a:srgbClr val="12121A"/>
          </a:solidFill>
          <a:ln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4572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Helvetica Neue"/>
              </a:defRPr>
            </a:pPr>
            <a:r>
              <a:t>Quarterly Dividend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5120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D158"/>
                </a:solidFill>
                <a:latin typeface="Helvetica Neue"/>
              </a:defRPr>
            </a:pPr>
            <a:r>
              <a:t>$0.27 per share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206240"/>
            <a:ext cx="4114800" cy="1828800"/>
          </a:xfrm>
          <a:prstGeom prst="roundRect">
            <a:avLst/>
          </a:prstGeom>
          <a:solidFill>
            <a:srgbClr val="12121A"/>
          </a:solidFill>
          <a:ln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4572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868B"/>
                </a:solidFill>
                <a:latin typeface="Helvetica Neue"/>
              </a:defRPr>
            </a:pPr>
            <a:r>
              <a:t>New Buyback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120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F0A"/>
                </a:solidFill>
                <a:latin typeface="Helvetica Neue"/>
              </a:defRPr>
            </a:pPr>
            <a:r>
              <a:t>$100B Authorized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0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0">
                <a:solidFill>
                  <a:srgbClr val="F5F5F7"/>
                </a:solidFill>
                <a:latin typeface="Helvetica Neue"/>
              </a:defRPr>
            </a:pPr>
            <a:r>
              <a:t>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F5F7"/>
                </a:solidFill>
                <a:latin typeface="Helvetica Neue"/>
              </a:defRPr>
            </a:pPr>
            <a:r>
              <a:t>Record Quarter.</a:t>
            </a:r>
            <a:br/>
            <a:r>
              <a:t>Limitless Future.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4754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997FF"/>
                </a:solidFill>
                <a:latin typeface="Helvetica Neue"/>
              </a:defRPr>
            </a:pPr>
            <a:r>
              <a:t>$111.2B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868B"/>
                </a:solidFill>
                <a:latin typeface="Helvetica Neue"/>
              </a:defRPr>
            </a:pPr>
            <a: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4754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0D158"/>
                </a:solidFill>
                <a:latin typeface="Helvetica Neue"/>
              </a:defRPr>
            </a:pPr>
            <a:r>
              <a:t>+17%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868B"/>
                </a:solidFill>
                <a:latin typeface="Helvetica Neue"/>
              </a:defRPr>
            </a:pPr>
            <a:r>
              <a:t>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754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BF5AF2"/>
                </a:solidFill>
                <a:latin typeface="Helvetica Neue"/>
              </a:defRPr>
            </a:pPr>
            <a:r>
              <a:t>$2.01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868B"/>
                </a:solidFill>
                <a:latin typeface="Helvetica Neue"/>
              </a:defRPr>
            </a:pPr>
            <a:r>
              <a:t>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03504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6868B"/>
                </a:solidFill>
                <a:latin typeface="Helvetica Neue"/>
              </a:defRPr>
            </a:pPr>
            <a:r>
              <a:t>Apple Inc.  ·  Q2 FY2026 Earnings  ·  April 30,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