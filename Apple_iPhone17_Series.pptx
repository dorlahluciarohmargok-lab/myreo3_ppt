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6C0FF"/>
              </a:solidFill>
            </c:spPr>
          </c:dPt>
          <c:dPt>
            <c:idx val="1"/>
            <c:spPr>
              <a:solidFill>
                <a:srgbClr val="D2D2D7"/>
              </a:solidFill>
            </c:spPr>
          </c:dPt>
          <c:dPt>
            <c:idx val="2"/>
            <c:spPr>
              <a:solidFill>
                <a:srgbClr val="D2D2D7"/>
              </a:solidFill>
            </c:spPr>
          </c:dPt>
          <c:dPt>
            <c:idx val="3"/>
            <c:spPr>
              <a:solidFill>
                <a:srgbClr val="D2D2D7"/>
              </a:solidFill>
            </c:spPr>
          </c:dPt>
          <c:cat>
            <c:strRef>
              <c:f>Sheet1!$A$2:$A$5</c:f>
              <c:strCache>
                <c:ptCount val="4"/>
                <c:pt idx="0">
                  <c:v>iPhone 17 Pro
A19 Pro</c:v>
                </c:pt>
                <c:pt idx="1">
                  <c:v>Samsung S25 Ultra
Snapdragon 8 Elite</c:v>
                </c:pt>
                <c:pt idx="2">
                  <c:v>Google Pixel 9 Pro
Tensor G4</c:v>
                </c:pt>
                <c:pt idx="3">
                  <c:v>OnePlus 15
SD 8 Gen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8950</c:v>
                </c:pt>
                <c:pt idx="1">
                  <c:v>7200</c:v>
                </c:pt>
                <c:pt idx="2">
                  <c:v>5800</c:v>
                </c:pt>
                <c:pt idx="3">
                  <c:v>7350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F5F5F7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F5F5F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E6E73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FF9F0A"/>
              </a:solidFill>
            </c:spPr>
          </c:dPt>
          <c:dPt>
            <c:idx val="1"/>
            <c:spPr>
              <a:solidFill>
                <a:srgbClr val="D2D2D7"/>
              </a:solidFill>
            </c:spPr>
          </c:dPt>
          <c:dPt>
            <c:idx val="2"/>
            <c:spPr>
              <a:solidFill>
                <a:srgbClr val="D2D2D7"/>
              </a:solidFill>
            </c:spPr>
          </c:dPt>
          <c:dPt>
            <c:idx val="3"/>
            <c:spPr>
              <a:solidFill>
                <a:srgbClr val="D2D2D7"/>
              </a:solidFill>
            </c:spPr>
          </c:dPt>
          <c:cat>
            <c:strRef>
              <c:f>Sheet1!$A$2:$A$5</c:f>
              <c:strCache>
                <c:ptCount val="4"/>
                <c:pt idx="0">
                  <c:v>iPhone 17 Pro Max</c:v>
                </c:pt>
                <c:pt idx="1">
                  <c:v>Samsung S25 Ultra</c:v>
                </c:pt>
                <c:pt idx="2">
                  <c:v>Google Pixel 9 Pro XL</c:v>
                </c:pt>
                <c:pt idx="3">
                  <c:v>Huawei Pura 70 Ultra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162</c:v>
                </c:pt>
                <c:pt idx="1">
                  <c:v>155</c:v>
                </c:pt>
                <c:pt idx="2">
                  <c:v>148</c:v>
                </c:pt>
                <c:pt idx="3">
                  <c:v>151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F5F5F7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F5F5F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E6E73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840480"/>
            <a:ext cx="12191695" cy="30175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0" y="91440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F5F5F7"/>
                </a:solidFill>
                <a:latin typeface="Helvetica Neue"/>
              </a:rPr>
              <a:t>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5F5F7"/>
                </a:solidFill>
                <a:latin typeface="Helvetica Neue"/>
              </a:rPr>
              <a:t>iPhone 17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6E6E73"/>
                </a:solidFill>
                <a:latin typeface="Helvetica Neue"/>
              </a:rPr>
              <a:t>Design. Power. Brilliance.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2D2D7"/>
                </a:solidFill>
                <a:latin typeface="Helvetica Neue"/>
              </a:rPr>
              <a:t>iPhone 17  ·  iPhone Air  ·  iPhone 17 Pro  ·  iPhone 17 Pro Max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5F5F7"/>
                </a:solidFill>
                <a:latin typeface="Helvetica Neue"/>
              </a:rPr>
              <a:t>Four iPhones. One Vision.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E6E73"/>
                </a:solidFill>
                <a:latin typeface="Helvetica Neue"/>
              </a:rPr>
              <a:t>Each one precisely made for who you are and how you live.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194560"/>
            <a:ext cx="2743200" cy="4206240"/>
          </a:xfrm>
          <a:prstGeom prst="round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377440"/>
            <a:ext cx="1280160" cy="347472"/>
          </a:xfrm>
          <a:prstGeom prst="roundRect">
            <a:avLst/>
          </a:prstGeom>
          <a:solidFill>
            <a:srgbClr val="06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2316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F5F7"/>
                </a:solidFill>
                <a:latin typeface="Helvetica Neue"/>
              </a:rPr>
              <a:t>NEW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F5F7"/>
                </a:solidFill>
                <a:latin typeface="Helvetica Neue"/>
              </a:rPr>
              <a:t>iPhone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37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C0FF"/>
                </a:solidFill>
                <a:latin typeface="Helvetica Neue"/>
              </a:rPr>
              <a:t>从 $799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94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2D2D7"/>
                </a:solidFill>
                <a:latin typeface="Helvetica Neue"/>
              </a:rPr>
              <a:t>A19 · 6.3" · 48MP双摄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348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Helvetica Neue"/>
              </a:rPr>
              <a:t>Black / Lavender / Mist Blue / Sage / White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194560"/>
            <a:ext cx="2743200" cy="4206240"/>
          </a:xfrm>
          <a:prstGeom prst="round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74720" y="2377440"/>
            <a:ext cx="1280160" cy="347472"/>
          </a:xfrm>
          <a:prstGeom prst="round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42316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F5F7"/>
                </a:solidFill>
                <a:latin typeface="Helvetica Neue"/>
              </a:rPr>
              <a:t>NEW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8346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F5F7"/>
                </a:solidFill>
                <a:latin typeface="Helvetica Neue"/>
              </a:rPr>
              <a:t>iPhone Air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337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0D158"/>
                </a:solidFill>
                <a:latin typeface="Helvetica Neue"/>
              </a:rPr>
              <a:t>从 $899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794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2D2D7"/>
                </a:solidFill>
                <a:latin typeface="Helvetica Neue"/>
              </a:rPr>
              <a:t>A19 Pro · 5.64mm · 超薄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4348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Helvetica Neue"/>
              </a:rPr>
              <a:t>Sky Blue / Starlight / Black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194560"/>
            <a:ext cx="2743200" cy="4206240"/>
          </a:xfrm>
          <a:prstGeom prst="round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2377440"/>
            <a:ext cx="1280160" cy="347472"/>
          </a:xfrm>
          <a:prstGeom prst="round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42316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F5F7"/>
                </a:solidFill>
                <a:latin typeface="Helvetica Neue"/>
              </a:rPr>
              <a:t>NEW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8346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F5F7"/>
                </a:solidFill>
                <a:latin typeface="Helvetica Neue"/>
              </a:rPr>
              <a:t>iPhone 17 Pro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337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9F0A"/>
                </a:solidFill>
                <a:latin typeface="Helvetica Neue"/>
              </a:rPr>
              <a:t>从 $999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94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2D2D7"/>
                </a:solidFill>
                <a:latin typeface="Helvetica Neue"/>
              </a:rPr>
              <a:t>A19 Pro · 6.3" · 48MP三摄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4348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Helvetica Neue"/>
              </a:rPr>
              <a:t>Cosmic Orange / Deep Blue / Silver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2194560"/>
            <a:ext cx="2743200" cy="4206240"/>
          </a:xfrm>
          <a:prstGeom prst="round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326880" y="2377440"/>
            <a:ext cx="1280160" cy="347472"/>
          </a:xfrm>
          <a:prstGeom prst="roundRect">
            <a:avLst/>
          </a:prstGeom>
          <a:solidFill>
            <a:srgbClr val="F7C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242316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F5F7"/>
                </a:solidFill>
                <a:latin typeface="Helvetica Neue"/>
              </a:rPr>
              <a:t>NEW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8346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F5F7"/>
                </a:solidFill>
                <a:latin typeface="Helvetica Neue"/>
              </a:rPr>
              <a:t>iPhone 17 Pro Max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3337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7CE68"/>
                </a:solidFill>
                <a:latin typeface="Helvetica Neue"/>
              </a:rPr>
              <a:t>从 $1199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3794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2D2D7"/>
                </a:solidFill>
                <a:latin typeface="Helvetica Neue"/>
              </a:rPr>
              <a:t>A19 Pro · 6.9" · 全球续航第一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44348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Helvetica Neue"/>
              </a:rPr>
              <a:t>Cosmic Orange / Deep Blue / Silver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C0FF"/>
                </a:solidFill>
                <a:latin typeface="Helvetica Neue"/>
              </a:rPr>
              <a:t>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5F5F7"/>
                </a:solidFill>
                <a:latin typeface="Helvetica Neue"/>
              </a:rPr>
              <a:t>精心打磨
每一处细节。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2D2D7"/>
                </a:solidFill>
                <a:latin typeface="Helvetica Neue"/>
              </a:rPr>
              <a:t>轮廓边缘更流线，边框更纤薄，正面搭载 Ceramic Shield 2 玻璃——抗划性能提升 3 倍。
外观之美，经久不衰。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5303520"/>
            <a:ext cx="411480" cy="411480"/>
          </a:xfrm>
          <a:prstGeom prst="ellipse">
            <a:avLst/>
          </a:prstGeom>
          <a:solidFill>
            <a:srgbClr val="1C1C1E"/>
          </a:solidFill>
          <a:ln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7607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E6E73"/>
                </a:solidFill>
                <a:latin typeface="Helvetica Neue"/>
              </a:rPr>
              <a:t>Black</a:t>
            </a:r>
          </a:p>
        </p:txBody>
      </p:sp>
      <p:sp>
        <p:nvSpPr>
          <p:cNvPr id="7" name="Oval 6"/>
          <p:cNvSpPr/>
          <p:nvPr/>
        </p:nvSpPr>
        <p:spPr>
          <a:xfrm>
            <a:off x="1389888" y="5303520"/>
            <a:ext cx="411480" cy="411480"/>
          </a:xfrm>
          <a:prstGeom prst="ellipse">
            <a:avLst/>
          </a:prstGeom>
          <a:solidFill>
            <a:srgbClr val="E2E0EF"/>
          </a:solidFill>
          <a:ln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8448" y="57607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E6E73"/>
                </a:solidFill>
                <a:latin typeface="Helvetica Neue"/>
              </a:rPr>
              <a:t>Lavender</a:t>
            </a:r>
          </a:p>
        </p:txBody>
      </p:sp>
      <p:sp>
        <p:nvSpPr>
          <p:cNvPr id="9" name="Oval 8"/>
          <p:cNvSpPr/>
          <p:nvPr/>
        </p:nvSpPr>
        <p:spPr>
          <a:xfrm>
            <a:off x="2048256" y="5303520"/>
            <a:ext cx="411480" cy="411480"/>
          </a:xfrm>
          <a:prstGeom prst="ellipse">
            <a:avLst/>
          </a:prstGeom>
          <a:solidFill>
            <a:srgbClr val="BDD5E7"/>
          </a:solidFill>
          <a:ln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56816" y="57607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E6E73"/>
                </a:solidFill>
                <a:latin typeface="Helvetica Neue"/>
              </a:rPr>
              <a:t>Mist Blue</a:t>
            </a:r>
          </a:p>
        </p:txBody>
      </p:sp>
      <p:sp>
        <p:nvSpPr>
          <p:cNvPr id="11" name="Oval 10"/>
          <p:cNvSpPr/>
          <p:nvPr/>
        </p:nvSpPr>
        <p:spPr>
          <a:xfrm>
            <a:off x="2706624" y="5303520"/>
            <a:ext cx="411480" cy="411480"/>
          </a:xfrm>
          <a:prstGeom prst="ellipse">
            <a:avLst/>
          </a:prstGeom>
          <a:solidFill>
            <a:srgbClr val="9BB89A"/>
          </a:solidFill>
          <a:ln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15184" y="57607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E6E73"/>
                </a:solidFill>
                <a:latin typeface="Helvetica Neue"/>
              </a:rPr>
              <a:t>Sage</a:t>
            </a:r>
          </a:p>
        </p:txBody>
      </p:sp>
      <p:sp>
        <p:nvSpPr>
          <p:cNvPr id="13" name="Oval 12"/>
          <p:cNvSpPr/>
          <p:nvPr/>
        </p:nvSpPr>
        <p:spPr>
          <a:xfrm>
            <a:off x="3364991" y="5303520"/>
            <a:ext cx="411480" cy="411480"/>
          </a:xfrm>
          <a:prstGeom prst="ellipse">
            <a:avLst/>
          </a:prstGeom>
          <a:solidFill>
            <a:srgbClr val="F5F5F7"/>
          </a:solidFill>
          <a:ln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73551" y="57607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E6E73"/>
                </a:solidFill>
                <a:latin typeface="Helvetica Neue"/>
              </a:rPr>
              <a:t>White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0D158"/>
                </a:solidFill>
                <a:latin typeface="Helvetica Neue"/>
              </a:rPr>
              <a:t>iPhone Air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5F5F7"/>
                </a:solidFill>
                <a:latin typeface="Helvetica Neue"/>
              </a:rPr>
              <a:t>史上最薄
iPhone。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2D2D7"/>
                </a:solidFill>
                <a:latin typeface="Helvetica Neue"/>
              </a:rPr>
              <a:t>仅 5.64mm 厚，165g 轻盈入手。
超越 iPhone 6 成为有史以来最薄 iPhone。
Ceramic Shield 正反两面，比以往任何 iPhone 更耐用。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120640"/>
            <a:ext cx="3474720" cy="164592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5349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  <a:latin typeface="Helvetica Neue"/>
              </a:rPr>
              <a:t>机身厚度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8064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0D158"/>
                </a:solidFill>
                <a:latin typeface="Helvetica Neue"/>
              </a:rPr>
              <a:t>5.64mm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5120640"/>
            <a:ext cx="3474720" cy="164592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5349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  <a:latin typeface="Helvetica Neue"/>
              </a:rPr>
              <a:t>重量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58064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F5F7"/>
                </a:solidFill>
                <a:latin typeface="Helvetica Neue"/>
              </a:rPr>
              <a:t>165g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5120640"/>
            <a:ext cx="3474720" cy="164592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5349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  <a:latin typeface="Helvetica Neue"/>
              </a:rPr>
              <a:t>屏幕尺寸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58064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6C0FF"/>
                </a:solidFill>
                <a:latin typeface="Helvetica Neue"/>
              </a:rPr>
              <a:t>6.5"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5F5F7"/>
                </a:solidFill>
                <a:latin typeface="Helvetica Neue"/>
              </a:rPr>
              <a:t>Super Retina XDR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772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6E6E73"/>
                </a:solidFill>
                <a:latin typeface="Helvetica Neue"/>
              </a:rPr>
              <a:t>我们有史以来最卓越的显示屏。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926080"/>
            <a:ext cx="3108960" cy="1280160"/>
          </a:xfrm>
          <a:prstGeom prst="roundRect">
            <a:avLst/>
          </a:prstGeom>
          <a:solidFill>
            <a:srgbClr val="14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063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F5F7"/>
                </a:solidFill>
                <a:latin typeface="Helvetica Neue"/>
              </a:rPr>
              <a:t>6.3" / 6.5" / 6.3" / 6.9"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118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Helvetica Neue"/>
              </a:rPr>
              <a:t>全系显示尺寸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926080"/>
            <a:ext cx="3108960" cy="1280160"/>
          </a:xfrm>
          <a:prstGeom prst="roundRect">
            <a:avLst/>
          </a:prstGeom>
          <a:solidFill>
            <a:srgbClr val="14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3063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C0FF"/>
                </a:solidFill>
                <a:latin typeface="Helvetica Neue"/>
              </a:rPr>
              <a:t>3000 nits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6118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Helvetica Neue"/>
              </a:rPr>
              <a:t>峰值亮度（户外）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926080"/>
            <a:ext cx="3108960" cy="1280160"/>
          </a:xfrm>
          <a:prstGeom prst="roundRect">
            <a:avLst/>
          </a:prstGeom>
          <a:solidFill>
            <a:srgbClr val="14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3063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0D158"/>
                </a:solidFill>
                <a:latin typeface="Helvetica Neue"/>
              </a:rPr>
              <a:t>ProMotion 120Hz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6118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Helvetica Neue"/>
              </a:rPr>
              <a:t>自适应刷新率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480560"/>
            <a:ext cx="3108960" cy="1280160"/>
          </a:xfrm>
          <a:prstGeom prst="roundRect">
            <a:avLst/>
          </a:prstGeom>
          <a:solidFill>
            <a:srgbClr val="14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17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2D2D7"/>
                </a:solidFill>
                <a:latin typeface="Helvetica Neue"/>
              </a:rPr>
              <a:t>2,000,000:1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1663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Helvetica Neue"/>
              </a:rPr>
              <a:t>对比度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480560"/>
            <a:ext cx="3108960" cy="1280160"/>
          </a:xfrm>
          <a:prstGeom prst="roundRect">
            <a:avLst/>
          </a:prstGeom>
          <a:solidFill>
            <a:srgbClr val="14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4617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9F0A"/>
                </a:solidFill>
                <a:latin typeface="Helvetica Neue"/>
              </a:rPr>
              <a:t>460 ppi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1663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Helvetica Neue"/>
              </a:rPr>
              <a:t>像素密度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4480560"/>
            <a:ext cx="3108960" cy="1280160"/>
          </a:xfrm>
          <a:prstGeom prst="roundRect">
            <a:avLst/>
          </a:prstGeom>
          <a:solidFill>
            <a:srgbClr val="14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4617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F5AF2"/>
                </a:solidFill>
                <a:latin typeface="Helvetica Neue"/>
              </a:rPr>
              <a:t>Always-On Display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51663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Helvetica Neue"/>
              </a:rPr>
              <a:t>Pro 机型常亮屏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5AF2"/>
                </a:solidFill>
                <a:latin typeface="Helvetica Neue"/>
              </a:rPr>
              <a:t>芯片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5F5F7"/>
                </a:solidFill>
                <a:latin typeface="Helvetica Neue"/>
              </a:rPr>
              <a:t>A19 Pro
领先一切。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2D2D7"/>
                </a:solidFill>
                <a:latin typeface="Helvetica Neue"/>
              </a:rPr>
              <a:t>第二代 3nm 工艺打造。比上一代快 15%，
比市面最快 Android 旗舰快 30%+。
最新一代神经网络引擎，每秒 38 万亿次运算，
驱动 Apple Intelligence 全部功能。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349240"/>
            <a:ext cx="3474720" cy="164592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55778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  <a:latin typeface="Helvetica Neue"/>
              </a:rPr>
              <a:t>CPU 提升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60350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0D158"/>
                </a:solidFill>
                <a:latin typeface="Helvetica Neue"/>
              </a:rPr>
              <a:t>+15% vs A18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5349240"/>
            <a:ext cx="3474720" cy="164592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55778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  <a:latin typeface="Helvetica Neue"/>
              </a:rPr>
              <a:t>GPU 提升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60350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C0FF"/>
                </a:solidFill>
                <a:latin typeface="Helvetica Neue"/>
              </a:rPr>
              <a:t>+20% vs A18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5349240"/>
            <a:ext cx="3474720" cy="164592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55778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  <a:latin typeface="Helvetica Neue"/>
              </a:rPr>
              <a:t>AI 算力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60350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BF5AF2"/>
                </a:solidFill>
                <a:latin typeface="Helvetica Neue"/>
              </a:rPr>
              <a:t>38T ops/s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5F5F7"/>
                </a:solidFill>
                <a:latin typeface="Helvetica Neue"/>
              </a:rPr>
              <a:t>性能遥遥领先。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E6E73"/>
                </a:solidFill>
                <a:latin typeface="Helvetica Neue"/>
              </a:rPr>
              <a:t>Geekbench 6 多核跑分对比（越高越好）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371600" y="2011680"/>
          <a:ext cx="96012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Helvetica Neue"/>
              </a:rPr>
              <a:t>* 数据来源：Geekbench 官方数据库 2025年数据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9F0A"/>
                </a:solidFill>
                <a:latin typeface="Helvetica Neue"/>
              </a:rPr>
              <a:t>iPhone 17 Pro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5F5F7"/>
                </a:solidFill>
                <a:latin typeface="Helvetica Neue"/>
              </a:rPr>
              <a:t>航天级铝合金
一体机身。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2D2D7"/>
                </a:solidFill>
                <a:latin typeface="Helvetica Neue"/>
              </a:rPr>
              <a:t>热锻铝合金一体结构——更坚固、更轻盈、散热更优秀。
告别钛合金接缝，一体成形天然优雅。
每一个角度都是工业设计的杰作。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5303520"/>
            <a:ext cx="475488" cy="475488"/>
          </a:xfrm>
          <a:prstGeom prst="ellipse">
            <a:avLst/>
          </a:prstGeom>
          <a:solidFill>
            <a:srgbClr val="FF6B2C"/>
          </a:solidFill>
          <a:ln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Helvetica Neue"/>
              </a:rPr>
              <a:t>Cosmic Orange</a:t>
            </a:r>
          </a:p>
        </p:txBody>
      </p:sp>
      <p:sp>
        <p:nvSpPr>
          <p:cNvPr id="7" name="Oval 6"/>
          <p:cNvSpPr/>
          <p:nvPr/>
        </p:nvSpPr>
        <p:spPr>
          <a:xfrm>
            <a:off x="2194560" y="5303520"/>
            <a:ext cx="475488" cy="475488"/>
          </a:xfrm>
          <a:prstGeom prst="ellipse">
            <a:avLst/>
          </a:prstGeom>
          <a:solidFill>
            <a:srgbClr val="1D3A5E"/>
          </a:solidFill>
          <a:ln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58064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Helvetica Neue"/>
              </a:rPr>
              <a:t>Deep Blue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5303520"/>
            <a:ext cx="475488" cy="475488"/>
          </a:xfrm>
          <a:prstGeom prst="ellipse">
            <a:avLst/>
          </a:prstGeom>
          <a:solidFill>
            <a:srgbClr val="C0C0C0"/>
          </a:solidFill>
          <a:ln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58064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Helvetica Neue"/>
              </a:rPr>
              <a:t>Silver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9F0A"/>
                </a:solidFill>
                <a:latin typeface="Helvetica Neue"/>
              </a:rPr>
              <a:t>影像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5F5F7"/>
                </a:solidFill>
                <a:latin typeface="Helvetica Neue"/>
              </a:rPr>
              <a:t>终极
Pro 相机系统。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F5F7"/>
                </a:solidFill>
                <a:latin typeface="Helvetica Neue"/>
              </a:rPr>
              <a:t>▸ 三颗 48MP Fusion 镜头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950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73"/>
                </a:solidFill>
                <a:latin typeface="Helvetica Neue"/>
              </a:rPr>
              <a:t>主摄 · 超广角 · 长焦，等效 8 支镜头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7083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F5F7"/>
                </a:solidFill>
                <a:latin typeface="Helvetica Neue"/>
              </a:rPr>
              <a:t>▸ 8× 光学品质变焦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6634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73"/>
                </a:solidFill>
                <a:latin typeface="Helvetica Neue"/>
              </a:rPr>
              <a:t>iPhone 史上最长变焦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8406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F5F7"/>
                </a:solidFill>
                <a:latin typeface="Helvetica Neue"/>
              </a:rPr>
              <a:t>▸ 18MP Center Stage 前摄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37667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73"/>
                </a:solidFill>
                <a:latin typeface="Helvetica Neue"/>
              </a:rPr>
              <a:t>自拍直接跃升专业级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9729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F5F7"/>
                </a:solidFill>
                <a:latin typeface="Helvetica Neue"/>
              </a:rPr>
              <a:t>▸ 4K 120fps ProRes 视频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608990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73"/>
                </a:solidFill>
                <a:latin typeface="Helvetica Neue"/>
              </a:rPr>
              <a:t>媲美专业摄影机的电影录制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C0FF"/>
                </a:solidFill>
                <a:latin typeface="Helvetica Neue"/>
              </a:rPr>
              <a:t>Camera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5F5F7"/>
                </a:solidFill>
                <a:latin typeface="Helvetica Neue"/>
              </a:rPr>
              <a:t>48MP 双摄
超震撼画质。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2D2D7"/>
                </a:solidFill>
                <a:latin typeface="Helvetica Neue"/>
              </a:rPr>
              <a:t>全新 48MP 主摄 + 48MP 超广角，
配合下一代传感器位移式光学防抖，
无论白昼夜晚都能拍出令人屏息的画面。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029200"/>
            <a:ext cx="2468880" cy="141732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166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  <a:latin typeface="Helvetica Neue"/>
              </a:rPr>
              <a:t>主摄像素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321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F5F7"/>
                </a:solidFill>
                <a:latin typeface="Helvetica Neue"/>
              </a:rPr>
              <a:t>48MP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5029200"/>
            <a:ext cx="2468880" cy="141732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5166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  <a:latin typeface="Helvetica Neue"/>
              </a:rPr>
              <a:t>超广角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55321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C0FF"/>
                </a:solidFill>
                <a:latin typeface="Helvetica Neue"/>
              </a:rPr>
              <a:t>48MP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5029200"/>
            <a:ext cx="2468880" cy="141732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166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  <a:latin typeface="Helvetica Neue"/>
              </a:rPr>
              <a:t>前置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5321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0D158"/>
                </a:solidFill>
                <a:latin typeface="Helvetica Neue"/>
              </a:rPr>
              <a:t>12MP TrueDepth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5F5F7"/>
                </a:solidFill>
                <a:latin typeface="Helvetica Neue"/>
              </a:rPr>
              <a:t>影像，还原真实。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E6E73"/>
                </a:solidFill>
                <a:latin typeface="Helvetica Neue"/>
              </a:rPr>
              <a:t>DxOMark 主摄评分对比（2025年旗舰机型）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371600" y="2011680"/>
          <a:ext cx="9601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6400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Helvetica Neue"/>
              </a:rPr>
              <a:t>DxOMark 评分越高代表整体影像表现越优秀，数据截至 2025 年 Q4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0D158"/>
                </a:solidFill>
                <a:latin typeface="Helvetica Neue"/>
              </a:rPr>
              <a:t>续航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5F5F7"/>
                </a:solidFill>
                <a:latin typeface="Helvetica Neue"/>
              </a:rPr>
              <a:t>效率才是真正的续航。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E6E73"/>
                </a:solidFill>
                <a:latin typeface="Helvetica Neue"/>
              </a:rPr>
              <a:t>更小的电池，更长的使用时间。这就是芯片 + 系统协同优化的力量。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33472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5F7"/>
                </a:solidFill>
                <a:latin typeface="Helvetica Neue"/>
              </a:rPr>
              <a:t>iPhone 17 Pro Max
5,088 mAh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2724912"/>
            <a:ext cx="7772400" cy="347472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0" y="2724912"/>
            <a:ext cx="7772400" cy="347472"/>
          </a:xfrm>
          <a:prstGeom prst="round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0" y="265176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0D158"/>
                </a:solidFill>
                <a:latin typeface="Helvetica Neue"/>
              </a:rP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47872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2D2D7"/>
                </a:solidFill>
                <a:latin typeface="Helvetica Neue"/>
              </a:rPr>
              <a:t>OnePlus 15
7,300 mAh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3639312"/>
            <a:ext cx="7772400" cy="347472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0" y="3639312"/>
            <a:ext cx="6373368" cy="347472"/>
          </a:xfrm>
          <a:prstGeom prst="round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0" y="356616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2D2D7"/>
                </a:solidFill>
                <a:latin typeface="Helvetica Neue"/>
              </a:rPr>
              <a:t>82%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62272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2D2D7"/>
                </a:solidFill>
                <a:latin typeface="Helvetica Neue"/>
              </a:rPr>
              <a:t>Samsung S25 Ultra
5,000 mAh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4553712"/>
            <a:ext cx="7772400" cy="347472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57600" y="4553712"/>
            <a:ext cx="6062472" cy="347472"/>
          </a:xfrm>
          <a:prstGeom prst="round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12880" y="448056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2D2D7"/>
                </a:solidFill>
                <a:latin typeface="Helvetica Neue"/>
              </a:rPr>
              <a:t>78%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76672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2D2D7"/>
                </a:solidFill>
                <a:latin typeface="Helvetica Neue"/>
              </a:rPr>
              <a:t>Google Pixel 9 Pro XL
5,060 mAh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5468112"/>
            <a:ext cx="7772400" cy="347472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57600" y="5468112"/>
            <a:ext cx="5751576" cy="347472"/>
          </a:xfrm>
          <a:prstGeom prst="round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612880" y="539496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2D2D7"/>
                </a:solidFill>
                <a:latin typeface="Helvetica Neue"/>
              </a:rPr>
              <a:t>74%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Helvetica Neue"/>
              </a:rPr>
              <a:t>基准：CNET 35 机型横向续航测试，3h 视频流媒体，满亮度  |  iPhone 17 Pro Max 排名第一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5F5F7"/>
                </a:solidFill>
                <a:latin typeface="Helvetica Neue"/>
              </a:rPr>
              <a:t>3 小时视频
仅消耗 9% 电量。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E6E73"/>
                </a:solidFill>
                <a:latin typeface="Helvetica Neue"/>
              </a:rPr>
              <a:t>这是 iPhone 17 Pro Max 在 CNET 最严苛测试中的真实表现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200400"/>
            <a:ext cx="3383280" cy="274320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33832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30D158"/>
                </a:solidFill>
                <a:latin typeface="Helvetica Neue"/>
              </a:rPr>
              <a:t>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44805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2D2D7"/>
                </a:solidFill>
                <a:latin typeface="Helvetica Neue"/>
              </a:rPr>
              <a:t>35 款手机中续航排名第一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3200400"/>
            <a:ext cx="3383280" cy="274320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59" y="33832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06C0FF"/>
                </a:solidFill>
                <a:latin typeface="Helvetica Neue"/>
              </a:rPr>
              <a:t>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59" y="44805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2D2D7"/>
                </a:solidFill>
                <a:latin typeface="Helvetica Neue"/>
              </a:rPr>
              <a:t>3h 视频消耗电量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200400"/>
            <a:ext cx="3383280" cy="274320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33832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9F0A"/>
                </a:solidFill>
                <a:latin typeface="Helvetica Neue"/>
              </a:rPr>
              <a:t>5,088mAh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44805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2D2D7"/>
                </a:solidFill>
                <a:latin typeface="Helvetica Neue"/>
              </a:rPr>
              <a:t>Pro Max 电池容量（iPhone 史上最大）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2179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E6E73"/>
                </a:solidFill>
                <a:latin typeface="Helvetica Neue"/>
              </a:rPr>
              <a:t>对比：OnePlus 15 搭载 7,300mAh 超大电池，续航测试中仍不敌 iPhone 17 Pro Max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5F5F7"/>
                </a:solidFill>
                <a:latin typeface="Helvetica Neue"/>
              </a:rPr>
              <a:t>iOS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E6E73"/>
                </a:solidFill>
                <a:latin typeface="Helvetica Neue"/>
              </a:rPr>
              <a:t>全新外观。更多魔法。Apple Intelligence 赋能。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120640" cy="123444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F5AF2"/>
                </a:solidFill>
                <a:latin typeface="Helvetica Neue"/>
              </a:rPr>
              <a:t>🧠 Apple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6060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2D2D7"/>
                </a:solidFill>
                <a:latin typeface="Helvetica Neue"/>
              </a:rPr>
              <a:t>基于设备端 AI，保护隐私，理解个人上下文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5120640" cy="123444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2148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C0FF"/>
                </a:solidFill>
                <a:latin typeface="Helvetica Neue"/>
              </a:rPr>
              <a:t>🌐 Live Translation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6060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2D2D7"/>
                </a:solidFill>
                <a:latin typeface="Helvetica Neue"/>
              </a:rPr>
              <a:t>实时翻译通话、短信和 FaceTime，打破语言壁垒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74720"/>
            <a:ext cx="5120640" cy="123444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611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9F0A"/>
                </a:solidFill>
                <a:latin typeface="Helvetica Neue"/>
              </a:rPr>
              <a:t>🎨 Image Playground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0690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2D2D7"/>
                </a:solidFill>
                <a:latin typeface="Helvetica Neue"/>
              </a:rPr>
              <a:t>一句话生成高质量图像，无限创意随心释放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474720"/>
            <a:ext cx="5120640" cy="123444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3611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0D158"/>
                </a:solidFill>
                <a:latin typeface="Helvetica Neue"/>
              </a:rPr>
              <a:t>✍️ Writing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0690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2D2D7"/>
                </a:solidFill>
                <a:latin typeface="Helvetica Neue"/>
              </a:rPr>
              <a:t>智能改写、润色、摘要，让表达更精准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37760"/>
            <a:ext cx="5120640" cy="123444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074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7CE68"/>
                </a:solidFill>
                <a:latin typeface="Helvetica Neue"/>
              </a:rPr>
              <a:t>🎯 Siri 全面进化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5321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2D2D7"/>
                </a:solidFill>
                <a:latin typeface="Helvetica Neue"/>
              </a:rPr>
              <a:t>深度整合 App 操作，跨 App 理解上下文意图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937760"/>
            <a:ext cx="5120640" cy="123444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5074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F5F7"/>
                </a:solidFill>
                <a:latin typeface="Helvetica Neue"/>
              </a:rPr>
              <a:t>🔒 隐私保护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55321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2D2D7"/>
                </a:solidFill>
                <a:latin typeface="Helvetica Neue"/>
              </a:rPr>
              <a:t>所有 AI 推理优先在本地运行，敏感数据不上云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C0FF"/>
                </a:solidFill>
                <a:latin typeface="Helvetica Neue"/>
              </a:rPr>
              <a:t>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5F5F7"/>
                </a:solidFill>
                <a:latin typeface="Helvetica Neue"/>
              </a:rPr>
              <a:t>只有 Apple
才能做到的整合。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E6E73"/>
                </a:solidFill>
                <a:latin typeface="Helvetica Neue"/>
              </a:rPr>
              <a:t>iPhone 是 Apple 生态的核心，与每一件 Apple 产品无缝协作。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3474720" cy="141732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90779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6C0FF"/>
                </a:solidFill>
                <a:latin typeface="Helvetica Neue"/>
              </a:rPr>
              <a:t>⌚ Apple Watch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0156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2D2D7"/>
                </a:solidFill>
                <a:latin typeface="Helvetica Neue"/>
              </a:rPr>
              <a:t>健康数据自动同步，无缝解锁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743200"/>
            <a:ext cx="3474720" cy="141732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290779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0D158"/>
                </a:solidFill>
                <a:latin typeface="Helvetica Neue"/>
              </a:rPr>
              <a:t>🎧 AirPods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40156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2D2D7"/>
                </a:solidFill>
                <a:latin typeface="Helvetica Neue"/>
              </a:rPr>
              <a:t>自动切换，空间音频随行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4480560"/>
            <a:ext cx="3474720" cy="141732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464515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BF5AF2"/>
                </a:solidFill>
                <a:latin typeface="Helvetica Neue"/>
              </a:rPr>
              <a:t>💻 Mac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513892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2D2D7"/>
                </a:solidFill>
                <a:latin typeface="Helvetica Neue"/>
              </a:rPr>
              <a:t>Handoff / Universal Control 跨设备工作流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80560"/>
            <a:ext cx="3474720" cy="141732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4515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9F0A"/>
                </a:solidFill>
                <a:latin typeface="Helvetica Neue"/>
              </a:rPr>
              <a:t>📱 iPad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3892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2D2D7"/>
                </a:solidFill>
                <a:latin typeface="Helvetica Neue"/>
              </a:rPr>
              <a:t>Sidecar 副屏，Apple Pencil 配合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6217920"/>
            <a:ext cx="3474720" cy="141732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638251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453A"/>
                </a:solidFill>
                <a:latin typeface="Helvetica Neue"/>
              </a:rPr>
              <a:t>📺 Apple TV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687628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2D2D7"/>
                </a:solidFill>
                <a:latin typeface="Helvetica Neue"/>
              </a:rPr>
              <a:t>AirPlay 一键投屏，4K 画质无损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6217920"/>
            <a:ext cx="3474720" cy="141732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638251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2D2D7"/>
                </a:solidFill>
                <a:latin typeface="Helvetica Neue"/>
              </a:rPr>
              <a:t>☁️ iCloud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687628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2D2D7"/>
                </a:solidFill>
                <a:latin typeface="Helvetica Neue"/>
              </a:rPr>
              <a:t>照片、文件、备份全端同步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5F5F7"/>
                </a:solidFill>
                <a:latin typeface="Helvetica Neue"/>
              </a:rPr>
              <a:t>设备之间，
无缝流动。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E6E73"/>
                </a:solidFill>
                <a:latin typeface="Helvetica Neue"/>
              </a:rPr>
              <a:t>iPhone 与 Mac、iPad、Apple Watch 之间的协作，流畅到让你忘记切换的存在。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5120640" cy="146304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90779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0D158"/>
                </a:solidFill>
                <a:latin typeface="Helvetica Neue"/>
              </a:rPr>
              <a:t>📡 AirDrop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4290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2D2D7"/>
                </a:solidFill>
                <a:latin typeface="Helvetica Neue"/>
              </a:rPr>
              <a:t>极速传输，附近设备秒收文件、照片、链接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743200"/>
            <a:ext cx="5120640" cy="146304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290779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C0FF"/>
                </a:solidFill>
                <a:latin typeface="Helvetica Neue"/>
              </a:rPr>
              <a:t>🔁 Handoff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34290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2D2D7"/>
                </a:solidFill>
                <a:latin typeface="Helvetica Neue"/>
              </a:rPr>
              <a:t>在 iPhone 开始的任务，拿起 Mac 立刻继续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72000"/>
            <a:ext cx="5120640" cy="146304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73659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9F0A"/>
                </a:solidFill>
                <a:latin typeface="Helvetica Neue"/>
              </a:rPr>
              <a:t>🖥️ iPhone 镜像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2578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2D2D7"/>
                </a:solidFill>
                <a:latin typeface="Helvetica Neue"/>
              </a:rPr>
              <a:t>在 Mac 上直接操控 iPhone，无需拿起手机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572000"/>
            <a:ext cx="5120640" cy="146304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473659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F5AF2"/>
                </a:solidFill>
                <a:latin typeface="Helvetica Neue"/>
              </a:rPr>
              <a:t>📞 短信/通话转发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52578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2D2D7"/>
                </a:solidFill>
                <a:latin typeface="Helvetica Neue"/>
              </a:rPr>
              <a:t>iPhone 上的电话短信，Mac 和 iPad 同步接听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5F5F7"/>
                </a:solidFill>
                <a:latin typeface="Helvetica Neue"/>
              </a:rPr>
              <a:t>隐私。
是我们的根本。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E6E73"/>
                </a:solidFill>
                <a:latin typeface="Helvetica Neue"/>
              </a:rPr>
              <a:t>从芯片到软件，每一层都是你的保护盾。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77440"/>
            <a:ext cx="5303520" cy="1097280"/>
          </a:xfrm>
          <a:prstGeom prst="round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F5F7"/>
                </a:solidFill>
                <a:latin typeface="Helvetica Neue"/>
              </a:rPr>
              <a:t>🔒 Face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926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2D2D7"/>
                </a:solidFill>
                <a:latin typeface="Helvetica Neue"/>
              </a:rPr>
              <a:t>神经网络人脸识别，误识率低于百万分之一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377440"/>
            <a:ext cx="5303520" cy="1097280"/>
          </a:xfrm>
          <a:prstGeom prst="round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24688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0D158"/>
                </a:solidFill>
                <a:latin typeface="Helvetica Neue"/>
              </a:rPr>
              <a:t>🔒 本地 AI 推理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926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2D2D7"/>
                </a:solidFill>
                <a:latin typeface="Helvetica Neue"/>
              </a:rPr>
              <a:t>Apple Intelligence 优先在设备本地运行，数据不离机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5303520" cy="1097280"/>
          </a:xfrm>
          <a:prstGeom prst="round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886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C0FF"/>
                </a:solidFill>
                <a:latin typeface="Helvetica Neue"/>
              </a:rPr>
              <a:t>🔒 Private Cloud Compute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3434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2D2D7"/>
                </a:solidFill>
                <a:latin typeface="Helvetica Neue"/>
              </a:rPr>
              <a:t>需联网时，服务器无法访问或保留您的个人数据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794760"/>
            <a:ext cx="5303520" cy="1097280"/>
          </a:xfrm>
          <a:prstGeom prst="round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3886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F0A"/>
                </a:solidFill>
                <a:latin typeface="Helvetica Neue"/>
              </a:rPr>
              <a:t>🔒 App 跟踪透明度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3434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2D2D7"/>
                </a:solidFill>
                <a:latin typeface="Helvetica Neue"/>
              </a:rPr>
              <a:t>每个 App 必须征得您同意才能追踪行为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212080"/>
            <a:ext cx="5303520" cy="1097280"/>
          </a:xfrm>
          <a:prstGeom prst="round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3035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F5AF2"/>
                </a:solidFill>
                <a:latin typeface="Helvetica Neue"/>
              </a:rPr>
              <a:t>🔒 邮件隐私保护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7607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2D2D7"/>
                </a:solidFill>
                <a:latin typeface="Helvetica Neue"/>
              </a:rPr>
              <a:t>阻止发件方追踪您是否已打开邮件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5212080"/>
            <a:ext cx="5303520" cy="1097280"/>
          </a:xfrm>
          <a:prstGeom prst="round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53035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453A"/>
                </a:solidFill>
                <a:latin typeface="Helvetica Neue"/>
              </a:rPr>
              <a:t>🔒 安全检查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57607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2D2D7"/>
                </a:solidFill>
                <a:latin typeface="Helvetica Neue"/>
              </a:rPr>
              <a:t>一键审核并撤销过往授予他人的所有权限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F5F7"/>
                </a:solidFill>
                <a:latin typeface="Helvetica Neue"/>
              </a:rPr>
              <a:t>iPhone 17 — 完整规格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51560"/>
            <a:ext cx="10362895" cy="1270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Helvetica Neue"/>
              </a:rPr>
              <a:t>显示屏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7"/>
                </a:solidFill>
                <a:latin typeface="Helvetica Neue"/>
              </a:rPr>
              <a:t>6.3" Super Retina XDR OLED · ProMotion 120Hz · 3000nits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00200"/>
            <a:ext cx="10362895" cy="1270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67335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Helvetica Neue"/>
              </a:rPr>
              <a:t>芯片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6733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7"/>
                </a:solidFill>
                <a:latin typeface="Helvetica Neue"/>
              </a:rPr>
              <a:t>Apple A19 · 第二代 3nm · 6核CPU + 6核GPU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084832"/>
            <a:ext cx="10362895" cy="1270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157984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Helvetica Neue"/>
              </a:rPr>
              <a:t>摄像头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15798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7"/>
                </a:solidFill>
                <a:latin typeface="Helvetica Neue"/>
              </a:rPr>
              <a:t>48MP 主摄(OIS) + 48MP 超广角 · 12MP TrueDepth 前摄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569464"/>
            <a:ext cx="10362895" cy="1270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64261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Helvetica Neue"/>
              </a:rPr>
              <a:t>存储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64261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7"/>
                </a:solidFill>
                <a:latin typeface="Helvetica Neue"/>
              </a:rPr>
              <a:t>256GB / 512GB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054096"/>
            <a:ext cx="10362895" cy="1270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Helvetica Neue"/>
              </a:rPr>
              <a:t>电池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12724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7"/>
                </a:solidFill>
                <a:latin typeface="Helvetica Neue"/>
              </a:rPr>
              <a:t>3,692 mAh · 全天续航 · MagSafe + USB-C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538728"/>
            <a:ext cx="10362895" cy="1270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3611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Helvetica Neue"/>
              </a:rPr>
              <a:t>颜色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611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7"/>
                </a:solidFill>
                <a:latin typeface="Helvetica Neue"/>
              </a:rPr>
              <a:t>Black · Lavender · Mist Blue · Sage · White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023360"/>
            <a:ext cx="10362895" cy="1270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409651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Helvetica Neue"/>
              </a:rPr>
              <a:t>机身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409651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7"/>
                </a:solidFill>
                <a:latin typeface="Helvetica Neue"/>
              </a:rPr>
              <a:t>Ceramic Shield 2 正面 · 彩色玻璃背板 · 铝合金边框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4507992"/>
            <a:ext cx="10362895" cy="1270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4581144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Helvetica Neue"/>
              </a:rPr>
              <a:t>尺寸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458114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7"/>
                </a:solidFill>
                <a:latin typeface="Helvetica Neue"/>
              </a:rPr>
              <a:t>149.6 × 71.5 × 7.95mm · 177g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4992624"/>
            <a:ext cx="10362895" cy="1270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506577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Helvetica Neue"/>
              </a:rPr>
              <a:t>防水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506577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7"/>
                </a:solidFill>
                <a:latin typeface="Helvetica Neue"/>
              </a:rPr>
              <a:t>IP68 · 最深 6 米，最长 30 分钟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5477256"/>
            <a:ext cx="10362895" cy="1270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555040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Helvetica Neue"/>
              </a:rPr>
              <a:t>系统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55504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7"/>
                </a:solidFill>
                <a:latin typeface="Helvetica Neue"/>
              </a:rPr>
              <a:t>iOS 26 · Apple Intelligence · 支持 6 年系统更新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5961888"/>
            <a:ext cx="10362895" cy="1270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F5F7"/>
                </a:solidFill>
                <a:latin typeface="Helvetica Neue"/>
              </a:rPr>
              <a:t>iPhone Air — 完整规格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51560"/>
            <a:ext cx="10362895" cy="1270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Helvetica Neue"/>
              </a:rPr>
              <a:t>显示屏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7"/>
                </a:solidFill>
                <a:latin typeface="Helvetica Neue"/>
              </a:rPr>
              <a:t>6.5" Super Retina XDR OLED · ProMotion 120Hz · 2000nits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00200"/>
            <a:ext cx="10362895" cy="1270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67335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Helvetica Neue"/>
              </a:rPr>
              <a:t>芯片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6733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7"/>
                </a:solidFill>
                <a:latin typeface="Helvetica Neue"/>
              </a:rPr>
              <a:t>Apple A19 Pro · C1X 调制解调器芯片 · N1 神经处理器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084832"/>
            <a:ext cx="10362895" cy="1270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157984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Helvetica Neue"/>
              </a:rPr>
              <a:t>机身厚度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15798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0D158"/>
                </a:solidFill>
                <a:latin typeface="Helvetica Neue"/>
              </a:rPr>
              <a:t>5.64mm（iPhone 史上最薄）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569464"/>
            <a:ext cx="10362895" cy="1270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64261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Helvetica Neue"/>
              </a:rPr>
              <a:t>重量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64261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0D158"/>
                </a:solidFill>
                <a:latin typeface="Helvetica Neue"/>
              </a:rPr>
              <a:t>165g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054096"/>
            <a:ext cx="10362895" cy="1270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Helvetica Neue"/>
              </a:rPr>
              <a:t>摄像头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12724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7"/>
                </a:solidFill>
                <a:latin typeface="Helvetica Neue"/>
              </a:rPr>
              <a:t>48MP 主摄 · 12MP TrueDepth 前摄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538728"/>
            <a:ext cx="10362895" cy="1270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3611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Helvetica Neue"/>
              </a:rPr>
              <a:t>存储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611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7"/>
                </a:solidFill>
                <a:latin typeface="Helvetica Neue"/>
              </a:rPr>
              <a:t>128GB / 256GB / 512GB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023360"/>
            <a:ext cx="10362895" cy="1270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409651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Helvetica Neue"/>
              </a:rPr>
              <a:t>电池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409651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7"/>
                </a:solidFill>
                <a:latin typeface="Helvetica Neue"/>
              </a:rPr>
              <a:t>全天续航 · USB-C 快充 · MagSafe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4507992"/>
            <a:ext cx="10362895" cy="1270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4581144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Helvetica Neue"/>
              </a:rPr>
              <a:t>颜色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458114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7"/>
                </a:solidFill>
                <a:latin typeface="Helvetica Neue"/>
              </a:rPr>
              <a:t>Sky Blue · Starlight · Black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4992624"/>
            <a:ext cx="10362895" cy="1270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506577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Helvetica Neue"/>
              </a:rPr>
              <a:t>机身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506577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7"/>
                </a:solidFill>
                <a:latin typeface="Helvetica Neue"/>
              </a:rPr>
              <a:t>Ceramic Shield 正面+背面 · 铝合金框架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5477256"/>
            <a:ext cx="10362895" cy="1270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555040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Helvetica Neue"/>
              </a:rPr>
              <a:t>防水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55504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7"/>
                </a:solidFill>
                <a:latin typeface="Helvetica Neue"/>
              </a:rPr>
              <a:t>IP68 · 最深 6 米，最长 30 分钟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5961888"/>
            <a:ext cx="10362895" cy="1270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5F5F7"/>
                </a:solidFill>
                <a:latin typeface="Helvetica Neue"/>
              </a:rPr>
              <a:t>iPhone 17 Pro / Pro Max — 完整规格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10362895" cy="1270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Helvetica Neue"/>
              </a:rPr>
              <a:t>显示屏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7"/>
                </a:solidFill>
                <a:latin typeface="Helvetica Neue"/>
              </a:rPr>
              <a:t>Pro: 6.3" · Pro Max: 6.9" · Always-On · ProMotion 120Hz · 3000nits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508760"/>
            <a:ext cx="10362895" cy="1270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58191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Helvetica Neue"/>
              </a:rPr>
              <a:t>芯片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58191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7"/>
                </a:solidFill>
                <a:latin typeface="Helvetica Neue"/>
              </a:rPr>
              <a:t>Apple A19 Pro · 第二代 3nm · 业界最强移动芯片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993392"/>
            <a:ext cx="10362895" cy="1270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066543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Helvetica Neue"/>
              </a:rPr>
              <a:t>摄像头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066543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7"/>
                </a:solidFill>
                <a:latin typeface="Helvetica Neue"/>
              </a:rPr>
              <a:t>三颗 48MP Fusion（主摄+超广角+长焦）· 8× 光学品质变焦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478023"/>
            <a:ext cx="10362895" cy="1270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55117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Helvetica Neue"/>
              </a:rPr>
              <a:t>前置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55117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7"/>
                </a:solidFill>
                <a:latin typeface="Helvetica Neue"/>
              </a:rPr>
              <a:t>18MP Center Stage · 自动取景追踪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2962656"/>
            <a:ext cx="10362895" cy="1270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303580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Helvetica Neue"/>
              </a:rPr>
              <a:t>视频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0358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7"/>
                </a:solidFill>
                <a:latin typeface="Helvetica Neue"/>
              </a:rPr>
              <a:t>4K 120fps ProRes · Log 录制 · Apple Log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447288"/>
            <a:ext cx="10362895" cy="1270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3520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Helvetica Neue"/>
              </a:rPr>
              <a:t>存储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520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7"/>
                </a:solidFill>
                <a:latin typeface="Helvetica Neue"/>
              </a:rPr>
              <a:t>256GB / 512GB / 1TB / 2TB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931920"/>
            <a:ext cx="10362895" cy="1270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400507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Helvetica Neue"/>
              </a:rPr>
              <a:t>电池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400507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F0A"/>
                </a:solidFill>
                <a:latin typeface="Helvetica Neue"/>
              </a:rPr>
              <a:t>Pro Max: 5,088 mAh（史上最大）· 全球 35 机型续航测试第一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4416552"/>
            <a:ext cx="10362895" cy="1270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4489704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Helvetica Neue"/>
              </a:rPr>
              <a:t>机身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448970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7"/>
                </a:solidFill>
                <a:latin typeface="Helvetica Neue"/>
              </a:rPr>
              <a:t>热锻铝合金一体机身 · Ceramic Shield 正面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4901184"/>
            <a:ext cx="10362895" cy="1270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497433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Helvetica Neue"/>
              </a:rPr>
              <a:t>颜色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497433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7"/>
                </a:solidFill>
                <a:latin typeface="Helvetica Neue"/>
              </a:rPr>
              <a:t>Cosmic Orange · Deep Blue · Silver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5385816"/>
            <a:ext cx="10362895" cy="1270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545896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Helvetica Neue"/>
              </a:rPr>
              <a:t>尺寸/重量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54589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7"/>
                </a:solidFill>
                <a:latin typeface="Helvetica Neue"/>
              </a:rPr>
              <a:t>Pro: 149.6mm · Pro Max: 163mm · 227g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5870448"/>
            <a:ext cx="10362895" cy="1270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5F5F7"/>
                </a:solidFill>
                <a:latin typeface="Helvetica Neue"/>
              </a:rPr>
              <a:t>四款对比，一目了然。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05840"/>
            <a:ext cx="2240280" cy="54864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E6E73"/>
                </a:solidFill>
                <a:latin typeface="Helvetica Neue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06039" y="1005840"/>
            <a:ext cx="2240280" cy="54864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199" y="1051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C0FF"/>
                </a:solidFill>
                <a:latin typeface="Helvetica Neue"/>
              </a:rPr>
              <a:t>iPhone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59" y="1005840"/>
            <a:ext cx="2240280" cy="54864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74919" y="1051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0D158"/>
                </a:solidFill>
                <a:latin typeface="Helvetica Neue"/>
              </a:rPr>
              <a:t>iPhone Air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79" y="1005840"/>
            <a:ext cx="2240280" cy="54864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39" y="1051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9F0A"/>
                </a:solidFill>
                <a:latin typeface="Helvetica Neue"/>
              </a:rPr>
              <a:t>iPhone 17 Pro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0" y="1005840"/>
            <a:ext cx="2240280" cy="54864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38360" y="1051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7CE68"/>
                </a:solidFill>
                <a:latin typeface="Helvetica Neue"/>
              </a:rPr>
              <a:t>iPhone 17 Pro Max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1645920"/>
            <a:ext cx="2240280" cy="5029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71907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E6E73"/>
                </a:solidFill>
                <a:latin typeface="Helvetica Neue"/>
              </a:rPr>
              <a:t>起售价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06039" y="1645920"/>
            <a:ext cx="2240280" cy="50292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199" y="171907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F5F7"/>
                </a:solidFill>
                <a:latin typeface="Helvetica Neue"/>
              </a:rPr>
              <a:t>$799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59" y="1645920"/>
            <a:ext cx="2240280" cy="50292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19" y="171907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F5F7"/>
                </a:solidFill>
                <a:latin typeface="Helvetica Neue"/>
              </a:rPr>
              <a:t>$899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79" y="1645920"/>
            <a:ext cx="2240280" cy="50292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39" y="171907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F5F7"/>
                </a:solidFill>
                <a:latin typeface="Helvetica Neue"/>
              </a:rPr>
              <a:t>$999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1645920"/>
            <a:ext cx="2240280" cy="50292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38360" y="171907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F5F7"/>
                </a:solidFill>
                <a:latin typeface="Helvetica Neue"/>
              </a:rPr>
              <a:t>$1199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2176272"/>
            <a:ext cx="2240280" cy="5029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224942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E6E73"/>
                </a:solidFill>
                <a:latin typeface="Helvetica Neue"/>
              </a:rPr>
              <a:t>屏幕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06039" y="2176272"/>
            <a:ext cx="2240280" cy="502920"/>
          </a:xfrm>
          <a:prstGeom prst="roundRect">
            <a:avLst/>
          </a:prstGeom>
          <a:solidFill>
            <a:srgbClr val="1A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199" y="224942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F5F7"/>
                </a:solidFill>
                <a:latin typeface="Helvetica Neue"/>
              </a:rPr>
              <a:t>6.3"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37759" y="2176272"/>
            <a:ext cx="2240280" cy="502920"/>
          </a:xfrm>
          <a:prstGeom prst="roundRect">
            <a:avLst/>
          </a:prstGeom>
          <a:solidFill>
            <a:srgbClr val="1A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19" y="224942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F5F7"/>
                </a:solidFill>
                <a:latin typeface="Helvetica Neue"/>
              </a:rPr>
              <a:t>6.5"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69479" y="2176272"/>
            <a:ext cx="2240280" cy="502920"/>
          </a:xfrm>
          <a:prstGeom prst="roundRect">
            <a:avLst/>
          </a:prstGeom>
          <a:solidFill>
            <a:srgbClr val="1A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39" y="224942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F5F7"/>
                </a:solidFill>
                <a:latin typeface="Helvetica Neue"/>
              </a:rPr>
              <a:t>6.3"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01200" y="2176272"/>
            <a:ext cx="2240280" cy="502920"/>
          </a:xfrm>
          <a:prstGeom prst="roundRect">
            <a:avLst/>
          </a:prstGeom>
          <a:solidFill>
            <a:srgbClr val="1A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224942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F5F7"/>
                </a:solidFill>
                <a:latin typeface="Helvetica Neue"/>
              </a:rPr>
              <a:t>6.9"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2706624"/>
            <a:ext cx="2240280" cy="5029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277977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E6E73"/>
                </a:solidFill>
                <a:latin typeface="Helvetica Neue"/>
              </a:rPr>
              <a:t>芯片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06039" y="2706624"/>
            <a:ext cx="2240280" cy="50292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199" y="277977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F5F7"/>
                </a:solidFill>
                <a:latin typeface="Helvetica Neue"/>
              </a:rPr>
              <a:t>A19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37759" y="2706624"/>
            <a:ext cx="2240280" cy="50292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74919" y="277977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F5F7"/>
                </a:solidFill>
                <a:latin typeface="Helvetica Neue"/>
              </a:rPr>
              <a:t>A19 Pro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69479" y="2706624"/>
            <a:ext cx="2240280" cy="50292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06639" y="277977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F5F7"/>
                </a:solidFill>
                <a:latin typeface="Helvetica Neue"/>
              </a:rPr>
              <a:t>A19 Pro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01200" y="2706624"/>
            <a:ext cx="2240280" cy="50292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277977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F5F7"/>
                </a:solidFill>
                <a:latin typeface="Helvetica Neue"/>
              </a:rPr>
              <a:t>A19 Pro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4320" y="3236976"/>
            <a:ext cx="2240280" cy="5029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331012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E6E73"/>
                </a:solidFill>
                <a:latin typeface="Helvetica Neue"/>
              </a:rPr>
              <a:t>后摄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606039" y="3236976"/>
            <a:ext cx="2240280" cy="502920"/>
          </a:xfrm>
          <a:prstGeom prst="roundRect">
            <a:avLst/>
          </a:prstGeom>
          <a:solidFill>
            <a:srgbClr val="1A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199" y="331012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F5F7"/>
                </a:solidFill>
                <a:latin typeface="Helvetica Neue"/>
              </a:rPr>
              <a:t>双48MP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937759" y="3236976"/>
            <a:ext cx="2240280" cy="502920"/>
          </a:xfrm>
          <a:prstGeom prst="roundRect">
            <a:avLst/>
          </a:prstGeom>
          <a:solidFill>
            <a:srgbClr val="1A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74919" y="331012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F5F7"/>
                </a:solidFill>
                <a:latin typeface="Helvetica Neue"/>
              </a:rPr>
              <a:t>单48MP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269479" y="3236976"/>
            <a:ext cx="2240280" cy="502920"/>
          </a:xfrm>
          <a:prstGeom prst="roundRect">
            <a:avLst/>
          </a:prstGeom>
          <a:solidFill>
            <a:srgbClr val="1A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06639" y="331012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F5F7"/>
                </a:solidFill>
                <a:latin typeface="Helvetica Neue"/>
              </a:rPr>
              <a:t>三48MP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601200" y="3236976"/>
            <a:ext cx="2240280" cy="502920"/>
          </a:xfrm>
          <a:prstGeom prst="roundRect">
            <a:avLst/>
          </a:prstGeom>
          <a:solidFill>
            <a:srgbClr val="1A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38360" y="331012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F5F7"/>
                </a:solidFill>
                <a:latin typeface="Helvetica Neue"/>
              </a:rPr>
              <a:t>三48MP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74320" y="3767328"/>
            <a:ext cx="2240280" cy="5029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384048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E6E73"/>
                </a:solidFill>
                <a:latin typeface="Helvetica Neue"/>
              </a:rPr>
              <a:t>最长变焦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606039" y="3767328"/>
            <a:ext cx="2240280" cy="50292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199" y="384048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F5F7"/>
                </a:solidFill>
                <a:latin typeface="Helvetica Neue"/>
              </a:rPr>
              <a:t>2×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937759" y="3767328"/>
            <a:ext cx="2240280" cy="50292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74919" y="384048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F5F7"/>
                </a:solidFill>
                <a:latin typeface="Helvetica Neue"/>
              </a:rPr>
              <a:t>2×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269479" y="3767328"/>
            <a:ext cx="2240280" cy="50292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06639" y="384048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F5F7"/>
                </a:solidFill>
                <a:latin typeface="Helvetica Neue"/>
              </a:rPr>
              <a:t>8×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601200" y="3767328"/>
            <a:ext cx="2240280" cy="50292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38360" y="384048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F5F7"/>
                </a:solidFill>
                <a:latin typeface="Helvetica Neue"/>
              </a:rPr>
              <a:t>8×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74320" y="4297680"/>
            <a:ext cx="2240280" cy="5029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43708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E6E73"/>
                </a:solidFill>
                <a:latin typeface="Helvetica Neue"/>
              </a:rPr>
              <a:t>厚度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606039" y="4297680"/>
            <a:ext cx="2240280" cy="502920"/>
          </a:xfrm>
          <a:prstGeom prst="roundRect">
            <a:avLst/>
          </a:prstGeom>
          <a:solidFill>
            <a:srgbClr val="1A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43199" y="43708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F5F7"/>
                </a:solidFill>
                <a:latin typeface="Helvetica Neue"/>
              </a:rPr>
              <a:t>7.95mm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937759" y="4297680"/>
            <a:ext cx="2240280" cy="502920"/>
          </a:xfrm>
          <a:prstGeom prst="roundRect">
            <a:avLst/>
          </a:prstGeom>
          <a:solidFill>
            <a:srgbClr val="1A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74919" y="43708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F5F7"/>
                </a:solidFill>
                <a:latin typeface="Helvetica Neue"/>
              </a:rPr>
              <a:t>5.64mm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269479" y="4297680"/>
            <a:ext cx="2240280" cy="502920"/>
          </a:xfrm>
          <a:prstGeom prst="roundRect">
            <a:avLst/>
          </a:prstGeom>
          <a:solidFill>
            <a:srgbClr val="1A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406639" y="43708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F5F7"/>
                </a:solidFill>
                <a:latin typeface="Helvetica Neue"/>
              </a:rPr>
              <a:t>8.0mm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601200" y="4297680"/>
            <a:ext cx="2240280" cy="502920"/>
          </a:xfrm>
          <a:prstGeom prst="roundRect">
            <a:avLst/>
          </a:prstGeom>
          <a:solidFill>
            <a:srgbClr val="1A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38360" y="43708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F5F7"/>
                </a:solidFill>
                <a:latin typeface="Helvetica Neue"/>
              </a:rPr>
              <a:t>8.3mm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74320" y="4828031"/>
            <a:ext cx="2240280" cy="5029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11480" y="4901183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E6E73"/>
                </a:solidFill>
                <a:latin typeface="Helvetica Neue"/>
              </a:rPr>
              <a:t>ProMotion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606039" y="4828031"/>
            <a:ext cx="2240280" cy="50292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743199" y="4901183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0D158"/>
                </a:solidFill>
                <a:latin typeface="Helvetica Neue"/>
              </a:rPr>
              <a:t>✓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937759" y="4828031"/>
            <a:ext cx="2240280" cy="50292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074919" y="4901183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0D158"/>
                </a:solidFill>
                <a:latin typeface="Helvetica Neue"/>
              </a:rPr>
              <a:t>✓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269479" y="4828031"/>
            <a:ext cx="2240280" cy="50292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406639" y="4901183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0D158"/>
                </a:solidFill>
                <a:latin typeface="Helvetica Neue"/>
              </a:rPr>
              <a:t>✓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601200" y="4828031"/>
            <a:ext cx="2240280" cy="50292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738360" y="4901183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0D158"/>
                </a:solidFill>
                <a:latin typeface="Helvetica Neue"/>
              </a:rPr>
              <a:t>✓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274320" y="5358383"/>
            <a:ext cx="2240280" cy="5029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11480" y="543153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E6E73"/>
                </a:solidFill>
                <a:latin typeface="Helvetica Neue"/>
              </a:rPr>
              <a:t>Always-On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606039" y="5358383"/>
            <a:ext cx="2240280" cy="502920"/>
          </a:xfrm>
          <a:prstGeom prst="roundRect">
            <a:avLst/>
          </a:prstGeom>
          <a:solidFill>
            <a:srgbClr val="1A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743199" y="543153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  <a:latin typeface="Helvetica Neue"/>
              </a:rPr>
              <a:t>✗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937759" y="5358383"/>
            <a:ext cx="2240280" cy="502920"/>
          </a:xfrm>
          <a:prstGeom prst="roundRect">
            <a:avLst/>
          </a:prstGeom>
          <a:solidFill>
            <a:srgbClr val="1A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074919" y="543153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  <a:latin typeface="Helvetica Neue"/>
              </a:rPr>
              <a:t>✗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269479" y="5358383"/>
            <a:ext cx="2240280" cy="502920"/>
          </a:xfrm>
          <a:prstGeom prst="roundRect">
            <a:avLst/>
          </a:prstGeom>
          <a:solidFill>
            <a:srgbClr val="1A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406639" y="543153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0D158"/>
                </a:solidFill>
                <a:latin typeface="Helvetica Neue"/>
              </a:rPr>
              <a:t>✓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601200" y="5358383"/>
            <a:ext cx="2240280" cy="502920"/>
          </a:xfrm>
          <a:prstGeom prst="roundRect">
            <a:avLst/>
          </a:prstGeom>
          <a:solidFill>
            <a:srgbClr val="1A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738360" y="543153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0D158"/>
                </a:solidFill>
                <a:latin typeface="Helvetica Neue"/>
              </a:rPr>
              <a:t>✓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74320" y="5888736"/>
            <a:ext cx="2240280" cy="5029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11480" y="596188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E6E73"/>
                </a:solidFill>
                <a:latin typeface="Helvetica Neue"/>
              </a:rPr>
              <a:t>ProRes 视频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2606039" y="5888736"/>
            <a:ext cx="2240280" cy="50292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743199" y="596188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  <a:latin typeface="Helvetica Neue"/>
              </a:rPr>
              <a:t>✗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937759" y="5888736"/>
            <a:ext cx="2240280" cy="50292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074919" y="596188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  <a:latin typeface="Helvetica Neue"/>
              </a:rPr>
              <a:t>✗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7269479" y="5888736"/>
            <a:ext cx="2240280" cy="50292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406639" y="596188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0D158"/>
                </a:solidFill>
                <a:latin typeface="Helvetica Neue"/>
              </a:rPr>
              <a:t>✓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601200" y="5888736"/>
            <a:ext cx="2240280" cy="50292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738360" y="596188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0D158"/>
                </a:solidFill>
                <a:latin typeface="Helvetica Neue"/>
              </a:rPr>
              <a:t>✓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212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F5F7"/>
                </a:solidFill>
                <a:latin typeface="Helvetica Neue"/>
              </a:rPr>
              <a:t>Shot on iPhone 17 Pro Max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7150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2D2D7"/>
                </a:solidFill>
                <a:latin typeface="Helvetica Neue"/>
              </a:rPr>
              <a:t>每一张照片都是真实的还原，每一个瞬间都值得被记住。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5F5F7"/>
                </a:solidFill>
                <a:latin typeface="Helvetica Neue"/>
              </a:rPr>
              <a:t>为什么选择 iPhone？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E6E73"/>
                </a:solidFill>
                <a:latin typeface="Helvetica Neue"/>
              </a:rPr>
              <a:t>六个理由，让你下定决心。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128016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3852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C0FF"/>
                </a:solidFill>
                <a:latin typeface="Helvetica Neue"/>
              </a:rPr>
              <a:t>🎨 外观质感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5059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2D2D7"/>
                </a:solidFill>
                <a:latin typeface="Helvetica Neue"/>
              </a:rPr>
              <a:t>每一道曲线都经过精密计算，拿在手中就是奢华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212080" cy="128016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93852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9F0A"/>
                </a:solidFill>
                <a:latin typeface="Helvetica Neue"/>
              </a:rPr>
              <a:t>⚡ 性能领先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45059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2D2D7"/>
                </a:solidFill>
                <a:latin typeface="Helvetica Neue"/>
              </a:rPr>
              <a:t>A19 Pro 跑分碾压所有 Android 旗舰，游戏、AI 毫无卡顿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37560"/>
            <a:ext cx="5212080" cy="128016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44728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0D158"/>
                </a:solidFill>
                <a:latin typeface="Helvetica Neue"/>
              </a:rPr>
              <a:t>📸 影像真实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2D2D7"/>
                </a:solidFill>
                <a:latin typeface="Helvetica Neue"/>
              </a:rPr>
              <a:t>三颗 48MP 镜头，8× 变焦，DxOMark 全球第一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337560"/>
            <a:ext cx="5212080" cy="128016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344728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7CE68"/>
                </a:solidFill>
                <a:latin typeface="Helvetica Neue"/>
              </a:rPr>
              <a:t>🔋 续航更好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95935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2D2D7"/>
                </a:solidFill>
                <a:latin typeface="Helvetica Neue"/>
              </a:rPr>
              <a:t>5,088mAh + iOS 优化，35 机型测试全球第一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46320"/>
            <a:ext cx="5212080" cy="128016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95604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F5AF2"/>
                </a:solidFill>
                <a:latin typeface="Helvetica Neue"/>
              </a:rPr>
              <a:t>🌐 生态闭环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46811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2D2D7"/>
                </a:solidFill>
                <a:latin typeface="Helvetica Neue"/>
              </a:rPr>
              <a:t>iPhone + Mac + iPad + Watch，无缝协作，生产力翻倍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846320"/>
            <a:ext cx="5212080" cy="128016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495604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F5F7"/>
                </a:solidFill>
                <a:latin typeface="Helvetica Neue"/>
              </a:rPr>
              <a:t>🛡️ 系统丝滑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546811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2D2D7"/>
                </a:solidFill>
                <a:latin typeface="Helvetica Neue"/>
              </a:rPr>
              <a:t>iOS 26 每次滑动都是享受，6 年系统更新保值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5F5F7"/>
                </a:solidFill>
                <a:latin typeface="Helvetica Neue"/>
              </a:rPr>
              <a:t>今天就体验
你的下一部 iPhone。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E6E73"/>
                </a:solidFill>
                <a:latin typeface="Helvetica Neue"/>
              </a:rPr>
              <a:t>所有机型现已开放选购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926080"/>
            <a:ext cx="2743200" cy="292608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3108960"/>
            <a:ext cx="1828800" cy="347472"/>
          </a:xfrm>
          <a:prstGeom prst="roundRect">
            <a:avLst/>
          </a:prstGeom>
          <a:solidFill>
            <a:srgbClr val="06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1546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F5F7"/>
                </a:solidFill>
                <a:latin typeface="Helvetica Neue"/>
              </a:rPr>
              <a:t>iPhone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118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6C0FF"/>
                </a:solidFill>
                <a:latin typeface="Helvetica Neue"/>
              </a:rPr>
              <a:t>从 $799 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73"/>
                </a:solidFill>
                <a:latin typeface="Helvetica Neue"/>
              </a:rPr>
              <a:t>256GB 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029200"/>
            <a:ext cx="1920240" cy="438912"/>
          </a:xfrm>
          <a:prstGeom prst="roundRect">
            <a:avLst/>
          </a:prstGeom>
          <a:solidFill>
            <a:srgbClr val="06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074920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F5F7"/>
                </a:solidFill>
                <a:latin typeface="Helvetica Neue"/>
              </a:rPr>
              <a:t>立即购买 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926080"/>
            <a:ext cx="2743200" cy="292608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66160" y="3108960"/>
            <a:ext cx="1828800" cy="347472"/>
          </a:xfrm>
          <a:prstGeom prst="round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31546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F5F7"/>
                </a:solidFill>
                <a:latin typeface="Helvetica Neue"/>
              </a:rPr>
              <a:t>iPhone Air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6118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0D158"/>
                </a:solidFill>
                <a:latin typeface="Helvetica Neue"/>
              </a:rPr>
              <a:t>从 $899 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2519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73"/>
                </a:solidFill>
                <a:latin typeface="Helvetica Neue"/>
              </a:rPr>
              <a:t>128GB 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94760" y="5029200"/>
            <a:ext cx="1920240" cy="438912"/>
          </a:xfrm>
          <a:prstGeom prst="round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60" y="5074920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F5F7"/>
                </a:solidFill>
                <a:latin typeface="Helvetica Neue"/>
              </a:rPr>
              <a:t>立即购买 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926080"/>
            <a:ext cx="2743200" cy="292608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92240" y="3108960"/>
            <a:ext cx="1828800" cy="347472"/>
          </a:xfrm>
          <a:prstGeom prst="round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1546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F5F7"/>
                </a:solidFill>
                <a:latin typeface="Helvetica Neue"/>
              </a:rPr>
              <a:t>iPhone 17 Pro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6118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9F0A"/>
                </a:solidFill>
                <a:latin typeface="Helvetica Neue"/>
              </a:rPr>
              <a:t>从 $999 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2519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73"/>
                </a:solidFill>
                <a:latin typeface="Helvetica Neue"/>
              </a:rPr>
              <a:t>256GB 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20840" y="5029200"/>
            <a:ext cx="1920240" cy="438912"/>
          </a:xfrm>
          <a:prstGeom prst="round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5074920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F5F7"/>
                </a:solidFill>
                <a:latin typeface="Helvetica Neue"/>
              </a:rPr>
              <a:t>立即购买 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2926080"/>
            <a:ext cx="2743200" cy="292608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418320" y="3108960"/>
            <a:ext cx="1828800" cy="347472"/>
          </a:xfrm>
          <a:prstGeom prst="roundRect">
            <a:avLst/>
          </a:prstGeom>
          <a:solidFill>
            <a:srgbClr val="F7C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31546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F5F7"/>
                </a:solidFill>
                <a:latin typeface="Helvetica Neue"/>
              </a:rPr>
              <a:t>iPhone 17 Pro Max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6118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7CE68"/>
                </a:solidFill>
                <a:latin typeface="Helvetica Neue"/>
              </a:rPr>
              <a:t>从 $1199 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42519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73"/>
                </a:solidFill>
                <a:latin typeface="Helvetica Neue"/>
              </a:rPr>
              <a:t>256GB 起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46920" y="5029200"/>
            <a:ext cx="1920240" cy="438912"/>
          </a:xfrm>
          <a:prstGeom prst="roundRect">
            <a:avLst/>
          </a:prstGeom>
          <a:solidFill>
            <a:srgbClr val="F7C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46920" y="5074920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F5F7"/>
                </a:solidFill>
                <a:latin typeface="Helvetica Neue"/>
              </a:rPr>
              <a:t>立即购买 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630936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E6E73"/>
                </a:solidFill>
                <a:latin typeface="Helvetica Neue"/>
              </a:rPr>
              <a:t>apple.com/store  ·  支持以旧换新  ·  分期付款零利率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77840" y="475488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5F5F7"/>
                </a:solidFill>
                <a:latin typeface="Helvetica Neue"/>
              </a:rPr>
              <a:t>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93776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5F5F7"/>
                </a:solidFill>
                <a:latin typeface="Helvetica Neue"/>
              </a:rPr>
              <a:t>Think Different.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E6E73"/>
                </a:solidFill>
                <a:latin typeface="Helvetica Neue"/>
              </a:rPr>
              <a:t>iPhone 17 系列  ·  2025 年 9 月上市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309360"/>
            <a:ext cx="2133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6C0FF"/>
                </a:solidFill>
                <a:latin typeface="Helvetica Neue"/>
              </a:rPr>
              <a:t>apple.com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