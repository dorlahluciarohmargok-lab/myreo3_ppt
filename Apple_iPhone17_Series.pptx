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2997FF"/>
              </a:solidFill>
            </c:spPr>
          </c:dPt>
          <c:dPt>
            <c:idx val="1"/>
            <c:spPr>
              <a:solidFill>
                <a:srgbClr val="3A3A3C"/>
              </a:solidFill>
            </c:spPr>
          </c:dPt>
          <c:dPt>
            <c:idx val="2"/>
            <c:spPr>
              <a:solidFill>
                <a:srgbClr val="3A3A3C"/>
              </a:solidFill>
            </c:spPr>
          </c:dPt>
          <c:dPt>
            <c:idx val="3"/>
            <c:spPr>
              <a:solidFill>
                <a:srgbClr val="3A3A3C"/>
              </a:solidFill>
            </c:spPr>
          </c:dPt>
          <c:cat>
            <c:strRef>
              <c:f>Sheet1!$A$2:$A$5</c:f>
              <c:strCache>
                <c:ptCount val="4"/>
                <c:pt idx="0">
                  <c:v>iPhone 17 Pro (A19 Pro)</c:v>
                </c:pt>
                <c:pt idx="1">
                  <c:v>OnePlus 15 (SD 8 Gen 4)</c:v>
                </c:pt>
                <c:pt idx="2">
                  <c:v>Samsung S25 Ultra (SD 8 Elite)</c:v>
                </c:pt>
                <c:pt idx="3">
                  <c:v>Google Pixel 9 Pro (Tensor G4)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8950</c:v>
                </c:pt>
                <c:pt idx="1">
                  <c:v>7350</c:v>
                </c:pt>
                <c:pt idx="2">
                  <c:v>7200</c:v>
                </c:pt>
                <c:pt idx="3">
                  <c:v>5800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F5F5F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EAEB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6363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FF9F0A"/>
              </a:solidFill>
            </c:spPr>
          </c:dPt>
          <c:dPt>
            <c:idx val="1"/>
            <c:spPr>
              <a:solidFill>
                <a:srgbClr val="3A3A3C"/>
              </a:solidFill>
            </c:spPr>
          </c:dPt>
          <c:dPt>
            <c:idx val="2"/>
            <c:spPr>
              <a:solidFill>
                <a:srgbClr val="3A3A3C"/>
              </a:solidFill>
            </c:spPr>
          </c:dPt>
          <c:dPt>
            <c:idx val="3"/>
            <c:spPr>
              <a:solidFill>
                <a:srgbClr val="3A3A3C"/>
              </a:solidFill>
            </c:spPr>
          </c:dPt>
          <c:cat>
            <c:strRef>
              <c:f>Sheet1!$A$2:$A$5</c:f>
              <c:strCache>
                <c:ptCount val="4"/>
                <c:pt idx="0">
                  <c:v>iPhone 17 Pro Max</c:v>
                </c:pt>
                <c:pt idx="1">
                  <c:v>Huawei Pura 70 Ultra</c:v>
                </c:pt>
                <c:pt idx="2">
                  <c:v>Samsung S25 Ultra</c:v>
                </c:pt>
                <c:pt idx="3">
                  <c:v>Google Pixel 9 Pro XL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162</c:v>
                </c:pt>
                <c:pt idx="1">
                  <c:v>151</c:v>
                </c:pt>
                <c:pt idx="2">
                  <c:v>155</c:v>
                </c:pt>
                <c:pt idx="3">
                  <c:v>148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F5F5F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EAEB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6363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iPhone CPU</c:v>
                </c:pt>
              </c:strCache>
            </c:strRef>
          </c:tx>
          <c:spPr>
            <a:ln w="31750">
              <a:solidFill>
                <a:srgbClr val="2997FF"/>
              </a:solidFill>
            </a:ln>
          </c:spPr>
          <c:marker>
            <c:symbol val="circle"/>
            <c:size val="7"/>
            <c:spPr>
              <a:solidFill>
                <a:srgbClr val="2997FF"/>
              </a:solidFill>
            </c:spPr>
          </c:marker>
          <c:cat>
            <c:strRef>
              <c:f>Sheet1!$A$2:$A$8</c:f>
              <c:strCache>
                <c:ptCount val="7"/>
                <c:pt idx="0">
                  <c:v>A15</c:v>
                </c:pt>
                <c:pt idx="1">
                  <c:v>A16</c:v>
                </c:pt>
                <c:pt idx="2">
                  <c:v>A17 Pro</c:v>
                </c:pt>
                <c:pt idx="3">
                  <c:v>A18</c:v>
                </c:pt>
                <c:pt idx="4">
                  <c:v>A18 Pro</c:v>
                </c:pt>
                <c:pt idx="5">
                  <c:v>A19</c:v>
                </c:pt>
                <c:pt idx="6">
                  <c:v>A19 Pro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5200</c:v>
                </c:pt>
                <c:pt idx="1">
                  <c:v>5900</c:v>
                </c:pt>
                <c:pt idx="2">
                  <c:v>7100</c:v>
                </c:pt>
                <c:pt idx="3">
                  <c:v>7800</c:v>
                </c:pt>
                <c:pt idx="4">
                  <c:v>8200</c:v>
                </c:pt>
                <c:pt idx="5">
                  <c:v>8400</c:v>
                </c:pt>
                <c:pt idx="6">
                  <c:v>8950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Android 最强</c:v>
                </c:pt>
              </c:strCache>
            </c:strRef>
          </c:tx>
          <c:spPr>
            <a:ln w="31750">
              <a:solidFill>
                <a:srgbClr val="48484A"/>
              </a:solidFill>
            </a:ln>
          </c:spPr>
          <c:marker>
            <c:symbol val="circle"/>
            <c:size val="7"/>
            <c:spPr>
              <a:solidFill>
                <a:srgbClr val="48484A"/>
              </a:solidFill>
            </c:spPr>
          </c:marker>
          <c:cat>
            <c:strRef>
              <c:f>Sheet1!$A$2:$A$8</c:f>
              <c:strCache>
                <c:ptCount val="7"/>
                <c:pt idx="0">
                  <c:v>A15</c:v>
                </c:pt>
                <c:pt idx="1">
                  <c:v>A16</c:v>
                </c:pt>
                <c:pt idx="2">
                  <c:v>A17 Pro</c:v>
                </c:pt>
                <c:pt idx="3">
                  <c:v>A18</c:v>
                </c:pt>
                <c:pt idx="4">
                  <c:v>A18 Pro</c:v>
                </c:pt>
                <c:pt idx="5">
                  <c:v>A19</c:v>
                </c:pt>
                <c:pt idx="6">
                  <c:v>A19 Pro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4800</c:v>
                </c:pt>
                <c:pt idx="1">
                  <c:v>5500</c:v>
                </c:pt>
                <c:pt idx="2">
                  <c:v>6100</c:v>
                </c:pt>
                <c:pt idx="3">
                  <c:v>6700</c:v>
                </c:pt>
                <c:pt idx="4">
                  <c:v>7000</c:v>
                </c:pt>
                <c:pt idx="5">
                  <c:v>7200</c:v>
                </c:pt>
                <c:pt idx="6">
                  <c:v>7350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EAEB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636366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AEAEB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视频播放续航(h)</c:v>
                </c:pt>
              </c:strCache>
            </c:strRef>
          </c:tx>
          <c:spPr>
            <a:ln w="31750">
              <a:solidFill>
                <a:srgbClr val="63E6BE"/>
              </a:solidFill>
            </a:ln>
          </c:spPr>
          <c:marker>
            <c:symbol val="circle"/>
            <c:size val="7"/>
            <c:spPr>
              <a:solidFill>
                <a:srgbClr val="63E6BE"/>
              </a:solidFill>
            </c:spPr>
          </c:marker>
          <c:cat>
            <c:strRef>
              <c:f>Sheet1!$A$2:$A$6</c:f>
              <c:strCache>
                <c:ptCount val="5"/>
                <c:pt idx="0">
                  <c:v>iPhone 13 Pro Max</c:v>
                </c:pt>
                <c:pt idx="1">
                  <c:v>iPhone 14 Pro Max</c:v>
                </c:pt>
                <c:pt idx="2">
                  <c:v>iPhone 15 Pro Max</c:v>
                </c:pt>
                <c:pt idx="3">
                  <c:v>iPhone 16 Pro Max</c:v>
                </c:pt>
                <c:pt idx="4">
                  <c:v>iPhone 17 Pro Max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29</c:v>
                </c:pt>
                <c:pt idx="2">
                  <c:v>29</c:v>
                </c:pt>
                <c:pt idx="3">
                  <c:v>33</c:v>
                </c:pt>
                <c:pt idx="4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EAEB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636366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AEAEB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1.jpg"/><Relationship Id="rId4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0" y="0"/>
            <a:ext cx="560801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_max_gs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"/>
            <a:ext cx="5303520" cy="48553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914400"/>
            <a:ext cx="2743200" cy="34747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509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7"/>
                </a:solidFill>
                <a:latin typeface="Helvetica Neue"/>
              </a:rPr>
              <a:t>iPhone 17 Series ·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852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5F5F7"/>
                </a:solidFill>
                <a:latin typeface="Helvetica Neue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852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2997FF"/>
                </a:solidFill>
                <a:latin typeface="Helvetica Neue"/>
              </a:rPr>
              <a:t>Different.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E8E93"/>
                </a:solidFill>
                <a:latin typeface="Helvetica Neue"/>
              </a:rPr>
              <a:t>设计之美 · 性能领先 · 影像真实 · 续航卓越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41732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60857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  <a:latin typeface="Helvetica Neue"/>
              </a:rPr>
              <a:t>iPhone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4572000"/>
            <a:ext cx="141732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2848" y="460857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0D158"/>
                </a:solidFill>
                <a:latin typeface="Helvetica Neue"/>
              </a:rPr>
              <a:t>iPhone 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176" y="4572000"/>
            <a:ext cx="141732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460857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9F0A"/>
                </a:solidFill>
                <a:latin typeface="Helvetica Neue"/>
              </a:rPr>
              <a:t>17 Pro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4572000"/>
            <a:ext cx="141732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460857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7CE68"/>
                </a:solidFill>
                <a:latin typeface="Helvetica Neue"/>
              </a:rPr>
              <a:t>Pro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8484A"/>
                </a:solidFill>
                <a:latin typeface="Helvetica Neue"/>
              </a:rPr>
              <a:t>Apple Inc. · Product Presentation 2025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36366"/>
                </a:solidFill>
                <a:latin typeface="Helvetica Neue"/>
              </a:rPr>
              <a:t>Lineup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F5F7"/>
                </a:solidFill>
                <a:latin typeface="Helvetica Neue"/>
              </a:rPr>
              <a:t>四款 iPhone，一个愿景。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E8E93"/>
                </a:solidFill>
                <a:latin typeface="Helvetica Neue"/>
              </a:rPr>
              <a:t>每一款都为特定的你精心打造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728655" cy="12700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2194560"/>
            <a:ext cx="2743200" cy="43434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194560"/>
            <a:ext cx="2743200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17_fro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40280"/>
            <a:ext cx="256032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1605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F5F7"/>
                </a:solidFill>
                <a:latin typeface="Helvetica Neue"/>
              </a:rPr>
              <a:t>iPhone 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997FF"/>
                </a:solidFill>
                <a:latin typeface="Helvetica Neue"/>
              </a:rPr>
              <a:t>从 ¥5,999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A19 · 6.3" ProMotion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双48MP相机系统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Ceramic Shield 2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五色:黑/薰衣草/蓝/绿/白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194560"/>
            <a:ext cx="2743200" cy="43434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5848" y="2194560"/>
            <a:ext cx="274320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r_re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8" y="2240280"/>
            <a:ext cx="2560320" cy="1828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1605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F5F7"/>
                </a:solidFill>
                <a:latin typeface="Helvetica Neue"/>
              </a:rPr>
              <a:t>iPhone 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461772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0D158"/>
                </a:solidFill>
                <a:latin typeface="Helvetica Neue"/>
              </a:rPr>
              <a:t>从 ¥6,999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02920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A19 Pro · 5.64mm超薄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165g钛合金机身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6.5"大屏超轻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四色:天蓝/星光/黑/紫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2194560"/>
            <a:ext cx="2743200" cy="43434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2194560"/>
            <a:ext cx="2743200" cy="5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ro_fro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240280"/>
            <a:ext cx="2560320" cy="1828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37376" y="41605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F5F7"/>
                </a:solidFill>
                <a:latin typeface="Helvetica Neue"/>
              </a:rPr>
              <a:t>iPhone 17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461772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F0A"/>
                </a:solidFill>
                <a:latin typeface="Helvetica Neue"/>
              </a:rPr>
              <a:t>从 ¥7,999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502920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A19 Pro · 三48MP镜头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8×光学品质变焦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铝合金一体机身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橙/蓝/银三色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4584" y="2194560"/>
            <a:ext cx="2743200" cy="43434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F7C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2194560"/>
            <a:ext cx="2743200" cy="508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ro_max_fron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6024" y="2240280"/>
            <a:ext cx="2560320" cy="1828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381744" y="41605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F5F7"/>
                </a:solidFill>
                <a:latin typeface="Helvetica Neue"/>
              </a:rPr>
              <a:t>Pro Max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744" y="461772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CE68"/>
                </a:solidFill>
                <a:latin typeface="Helvetica Neue"/>
              </a:rPr>
              <a:t>从 ¥9,999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744" y="502920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6.9" 史上最大屏幕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5,088mAh史上最大电池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全球续航测试第一</a:t>
            </a:r>
          </a:p>
          <a:p>
            <a:pPr algn="l"/>
            <a:r>
              <a:rPr sz="1100" b="0">
                <a:solidFill>
                  <a:srgbClr val="AEAEB2"/>
                </a:solidFill>
                <a:latin typeface="Helvetica Neue"/>
              </a:rPr>
              <a:t>256GB～2TB可选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0" y="0"/>
            <a:ext cx="615665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48640"/>
            <a:ext cx="1828800" cy="34747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852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7"/>
                </a:solidFill>
                <a:latin typeface="Helvetica Neue"/>
              </a:rPr>
              <a:t>Design · 外观工艺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5F5F7"/>
                </a:solidFill>
                <a:latin typeface="Helvetica Neue"/>
              </a:rPr>
              <a:t>精心打磨，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2997FF"/>
                </a:solidFill>
                <a:latin typeface="Helvetica Neue"/>
              </a:rPr>
              <a:t>每一处细节。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EAEB2"/>
                </a:solidFill>
                <a:latin typeface="Helvetica Neue"/>
              </a:rPr>
              <a:t>轮廓边缘更流线，边框更纤薄。正面 Ceramic Shield 2，抗划性提升3倍。外观之美，经久不衰。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39"/>
            <a:ext cx="5029200" cy="658368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0800" cy="658368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97FF"/>
                </a:solidFill>
                <a:latin typeface="Helvetica Neue"/>
              </a:rPr>
              <a:t>🛡️ Ceramic Shield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399"/>
            <a:ext cx="4114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正面抗划性 +3×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754879"/>
            <a:ext cx="5029200" cy="658368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754879"/>
            <a:ext cx="50800" cy="658368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280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0D158"/>
                </a:solidFill>
                <a:latin typeface="Helvetica Neue"/>
              </a:rPr>
              <a:t>💧 IP68 防水防尘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39"/>
            <a:ext cx="4114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最深6m · 30分钟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5029200" cy="658368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532120"/>
            <a:ext cx="50800" cy="658368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052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8FFF"/>
                </a:solidFill>
                <a:latin typeface="Helvetica Neue"/>
              </a:rPr>
              <a:t>🔗 MagSafe + USB-C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897880"/>
            <a:ext cx="4114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双模快充·磁吸生态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36366"/>
                </a:solidFill>
                <a:latin typeface="Helvetica Neue"/>
              </a:rPr>
              <a:t>配色：Black · Lavender · Mist Blue · Sage · White</a:t>
            </a:r>
          </a:p>
        </p:txBody>
      </p:sp>
      <p:pic>
        <p:nvPicPr>
          <p:cNvPr id="22" name="Picture 21" descr="hd_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1440"/>
            <a:ext cx="5669280" cy="4389120"/>
          </a:xfrm>
          <a:prstGeom prst="rect">
            <a:avLst/>
          </a:prstGeom>
        </p:spPr>
      </p:pic>
      <p:pic>
        <p:nvPicPr>
          <p:cNvPr id="23" name="Picture 22" descr="lifestyle_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663440"/>
            <a:ext cx="2743200" cy="2057400"/>
          </a:xfrm>
          <a:prstGeom prst="rect">
            <a:avLst/>
          </a:prstGeom>
        </p:spPr>
      </p:pic>
      <p:pic>
        <p:nvPicPr>
          <p:cNvPr id="24" name="Picture 23" descr="hd_0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4663440"/>
            <a:ext cx="278892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0" y="0"/>
            <a:ext cx="597377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48640"/>
            <a:ext cx="1828800" cy="347472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852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</a:rPr>
              <a:t>iPhone Air ·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F5F5F7"/>
                </a:solidFill>
                <a:latin typeface="Helvetica Neue"/>
              </a:rPr>
              <a:t>史上最薄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30D158"/>
                </a:solidFill>
                <a:latin typeface="Helvetica Neue"/>
              </a:rPr>
              <a:t>iPhone。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AEB2"/>
                </a:solidFill>
                <a:latin typeface="Helvetica Neue"/>
              </a:rPr>
              <a:t>仅5.64mm厚，165g轻盈入手。你不敢相信一部iPhone可以这么薄。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2468880" cy="146304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246888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5993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机身厚度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62272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0D158"/>
                </a:solidFill>
                <a:latin typeface="Helvetica Neue"/>
              </a:rPr>
              <a:t>5.64mm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931920"/>
            <a:ext cx="2468880" cy="146304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3931920"/>
            <a:ext cx="2468880" cy="508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405993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重量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462272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AC8FA"/>
                </a:solidFill>
                <a:latin typeface="Helvetica Neue"/>
              </a:rPr>
              <a:t>165g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86400"/>
            <a:ext cx="2468880" cy="128016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486400"/>
            <a:ext cx="2468880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1441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屏幕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016752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997FF"/>
                </a:solidFill>
                <a:latin typeface="Helvetica Neue"/>
              </a:rPr>
              <a:t>6.5"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5486400"/>
            <a:ext cx="2468880" cy="128016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6120" y="5486400"/>
            <a:ext cx="2468880" cy="50800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561441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芯片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6016752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8FFF"/>
                </a:solidFill>
                <a:latin typeface="Helvetica Neue"/>
              </a:rPr>
              <a:t>A19 Pro</a:t>
            </a:r>
          </a:p>
        </p:txBody>
      </p:sp>
      <p:pic>
        <p:nvPicPr>
          <p:cNvPr id="25" name="Picture 24" descr="hd_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"/>
            <a:ext cx="5486400" cy="6675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2194560" cy="347472"/>
          </a:xfrm>
          <a:prstGeom prst="round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</a:rPr>
              <a:t>Super Retina XDR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5F5F7"/>
                </a:solidFill>
                <a:latin typeface="Helvetica Neue"/>
              </a:rPr>
              <a:t>我们最卓越的显示屏。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8E93"/>
                </a:solidFill>
                <a:latin typeface="Helvetica Neue"/>
              </a:rPr>
              <a:t>每一像素精密校准，色彩还原达到专业级精度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10728655" cy="127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3566160" cy="16002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3566160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997FF"/>
                </a:solidFill>
                <a:latin typeface="Helvetica Neue"/>
              </a:rPr>
              <a:t>3000 nits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峰值亮度（户外）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468880"/>
            <a:ext cx="3566160" cy="16002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468880"/>
            <a:ext cx="356616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0D158"/>
                </a:solidFill>
                <a:latin typeface="Helvetica Neue"/>
              </a:rPr>
              <a:t>120 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3474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ProMotion 刷新率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66175" y="2468880"/>
            <a:ext cx="3566160" cy="16002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66175" y="2468880"/>
            <a:ext cx="3566160" cy="5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5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9F0A"/>
                </a:solidFill>
                <a:latin typeface="Helvetica Neue"/>
              </a:rPr>
              <a:t>460 ppi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5" y="3474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视网膜像素密度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80"/>
            <a:ext cx="3566160" cy="16002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297680"/>
            <a:ext cx="3566160" cy="508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80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5AC8FA"/>
                </a:solidFill>
                <a:latin typeface="Helvetica Neue"/>
              </a:rPr>
              <a:t>2,000,000:1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03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OLED 对比度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4297680"/>
            <a:ext cx="3566160" cy="16002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4297680"/>
            <a:ext cx="3566160" cy="50800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4480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8FFF"/>
                </a:solidFill>
                <a:latin typeface="Helvetica Neue"/>
              </a:rPr>
              <a:t>6.3"–6.9"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5303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全系四种尺寸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6175" y="4297680"/>
            <a:ext cx="3566160" cy="16002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6175" y="4297680"/>
            <a:ext cx="3566160" cy="508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94775" y="4480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7CE68"/>
                </a:solidFill>
                <a:latin typeface="Helvetica Neue"/>
              </a:rPr>
              <a:t>Always-On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4775" y="5303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Pro 机型常亮显示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0" y="0"/>
            <a:ext cx="597377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377440" cy="347472"/>
          </a:xfrm>
          <a:prstGeom prst="round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3949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7"/>
                </a:solidFill>
                <a:latin typeface="Helvetica Neue"/>
              </a:rPr>
              <a:t>A19 Pro · 第二代3nm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5F5F7"/>
                </a:solidFill>
                <a:latin typeface="Helvetica Neue"/>
              </a:rPr>
              <a:t>领先一切。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EAEB2"/>
                </a:solidFill>
                <a:latin typeface="Helvetica Neue"/>
              </a:rPr>
              <a:t>比 A18 快15%  ·  比最快Android旗舰快30%+
神经网络引擎每秒处理 38 万亿次运算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178308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91840"/>
            <a:ext cx="1783080" cy="50800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1985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CPU 提升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8FFF"/>
                </a:solidFill>
                <a:latin typeface="Helvetica Neue"/>
              </a:rPr>
              <a:t>+15%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291840"/>
            <a:ext cx="178308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0" y="3291840"/>
            <a:ext cx="1783080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41985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GPU 提升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82219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997FF"/>
                </a:solidFill>
                <a:latin typeface="Helvetica Neue"/>
              </a:rPr>
              <a:t>+20%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291840"/>
            <a:ext cx="178308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3291840"/>
            <a:ext cx="178308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41985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AI 算力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82219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0D158"/>
                </a:solidFill>
                <a:latin typeface="Helvetica Neue"/>
              </a:rPr>
              <a:t>38T ops/s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36366"/>
                </a:solidFill>
                <a:latin typeface="Helvetica Neue"/>
              </a:rPr>
              <a:t>3nm 制程 · 全球移动性能 #1 · 驱动 Apple Intelligence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76672"/>
            <a:ext cx="5029200" cy="127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d_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"/>
            <a:ext cx="5486400" cy="3291840"/>
          </a:xfrm>
          <a:prstGeom prst="rect">
            <a:avLst/>
          </a:prstGeom>
        </p:spPr>
      </p:pic>
      <p:pic>
        <p:nvPicPr>
          <p:cNvPr id="23" name="Picture 22" descr="hd_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74720"/>
            <a:ext cx="2651760" cy="3246120"/>
          </a:xfrm>
          <a:prstGeom prst="rect">
            <a:avLst/>
          </a:prstGeom>
        </p:spPr>
      </p:pic>
      <p:pic>
        <p:nvPicPr>
          <p:cNvPr id="24" name="Picture 23" descr="hd_0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3474720"/>
            <a:ext cx="269748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5F5F7"/>
                </a:solidFill>
                <a:latin typeface="Helvetica Neue"/>
              </a:rPr>
              <a:t>性能遥遥领先。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E8E93"/>
                </a:solidFill>
                <a:latin typeface="Helvetica Neue"/>
              </a:rPr>
              <a:t>Geekbench 6 多核跑分 — 分数越高越好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691640"/>
          <a:ext cx="1072865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194560" cy="347472"/>
          </a:xfrm>
          <a:prstGeom prst="round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3949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</a:rPr>
              <a:t>Pro Camera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5F5F7"/>
                </a:solidFill>
                <a:latin typeface="Helvetica Neue"/>
              </a:rPr>
              <a:t>终极 Pro 影像。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EAEB2"/>
                </a:solidFill>
                <a:latin typeface="Helvetica Neue"/>
              </a:rPr>
              <a:t>三颗 48MP Fusion 镜头，等效8支专业镜头。
iPhone史上最长8×光学品质变焦。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029200" cy="667512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80360"/>
            <a:ext cx="50800" cy="66751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44368"/>
            <a:ext cx="3291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00"/>
                </a:solidFill>
                <a:latin typeface="Helvetica Neue"/>
              </a:rPr>
              <a:t>📷  48MP 主摄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6440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传感器位移防抖 · f/1.78大光圈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5029200" cy="667512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57600"/>
            <a:ext cx="50800" cy="667512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3291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F0A"/>
                </a:solidFill>
                <a:latin typeface="Helvetica Neue"/>
              </a:rPr>
              <a:t>🔭  48MP 长焦 · 8×变焦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iPhone史上最长光学品质变焦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029200" cy="667512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34840"/>
            <a:ext cx="50800" cy="667512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98848"/>
            <a:ext cx="3291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7CE68"/>
                </a:solidFill>
                <a:latin typeface="Helvetica Neue"/>
              </a:rPr>
              <a:t>🌐  48MP 超广角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1888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微距 · 170°大视角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79"/>
            <a:ext cx="5029200" cy="667512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212079"/>
            <a:ext cx="50800" cy="667512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76087"/>
            <a:ext cx="3291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0D158"/>
                </a:solidFill>
                <a:latin typeface="Helvetica Neue"/>
              </a:rPr>
              <a:t>🎬  4K 120fps ProRes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96127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Apple Log 2 · ProRes RAW · genlock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989320"/>
            <a:ext cx="5029200" cy="667512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989320"/>
            <a:ext cx="50800" cy="667512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053328"/>
            <a:ext cx="3291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97FF"/>
                </a:solidFill>
                <a:latin typeface="Helvetica Neue"/>
              </a:rPr>
              <a:t>🤳  18MP Center Stage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637336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自动取景追踪 · 专业自拍</a:t>
            </a:r>
          </a:p>
        </p:txBody>
      </p:sp>
      <p:pic>
        <p:nvPicPr>
          <p:cNvPr id="28" name="Picture 27" descr="hd_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45720"/>
            <a:ext cx="5852160" cy="4114800"/>
          </a:xfrm>
          <a:prstGeom prst="rect">
            <a:avLst/>
          </a:prstGeom>
        </p:spPr>
      </p:pic>
      <p:pic>
        <p:nvPicPr>
          <p:cNvPr id="29" name="Picture 28" descr="lifestyle_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4251960"/>
            <a:ext cx="2834640" cy="2468880"/>
          </a:xfrm>
          <a:prstGeom prst="rect">
            <a:avLst/>
          </a:prstGeom>
        </p:spPr>
      </p:pic>
      <p:pic>
        <p:nvPicPr>
          <p:cNvPr id="30" name="Picture 29" descr="lifestyle_0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4251960"/>
            <a:ext cx="27889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00"/>
                </a:solidFill>
                <a:latin typeface="Helvetica Neue"/>
              </a:rPr>
              <a:t>Shot on iPhone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5F5F7"/>
                </a:solidFill>
                <a:latin typeface="Helvetica Neue"/>
              </a:rPr>
              <a:t>影像，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87168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9F0A"/>
                </a:solidFill>
                <a:latin typeface="Helvetica Neue"/>
              </a:rPr>
              <a:t>还原真实。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AEB2"/>
                </a:solidFill>
                <a:latin typeface="Helvetica Neue"/>
              </a:rPr>
              <a:t>每一张照片都是记忆的忠实还原。三颗48MP镜头捕捉世界本来的样子。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6B00"/>
                </a:solidFill>
                <a:latin typeface="Helvetica Neue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834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DxOMark 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30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9F0A"/>
                </a:solidFill>
                <a:latin typeface="Helvetica Neue"/>
              </a:rPr>
              <a:t>162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418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主摄综合分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8873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CE68"/>
                </a:solidFill>
                <a:latin typeface="Helvetica Neue"/>
              </a:rPr>
              <a:t>8×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002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8E93"/>
                </a:solidFill>
                <a:latin typeface="Helvetica Neue"/>
              </a:rPr>
              <a:t>最长变焦</a:t>
            </a:r>
          </a:p>
        </p:txBody>
      </p:sp>
      <p:pic>
        <p:nvPicPr>
          <p:cNvPr id="14" name="Picture 13" descr="hd_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0"/>
            <a:ext cx="3840480" cy="3429000"/>
          </a:xfrm>
          <a:prstGeom prst="rect">
            <a:avLst/>
          </a:prstGeom>
        </p:spPr>
      </p:pic>
      <p:pic>
        <p:nvPicPr>
          <p:cNvPr id="15" name="Picture 14" descr="hd_0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0"/>
            <a:ext cx="3870655" cy="3429000"/>
          </a:xfrm>
          <a:prstGeom prst="rect">
            <a:avLst/>
          </a:prstGeom>
        </p:spPr>
      </p:pic>
      <p:pic>
        <p:nvPicPr>
          <p:cNvPr id="16" name="Picture 15" descr="hd_0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3438144"/>
            <a:ext cx="2514600" cy="3419856"/>
          </a:xfrm>
          <a:prstGeom prst="rect">
            <a:avLst/>
          </a:prstGeom>
        </p:spPr>
      </p:pic>
      <p:pic>
        <p:nvPicPr>
          <p:cNvPr id="17" name="Picture 16" descr="hd_0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3438144"/>
            <a:ext cx="2514600" cy="3419856"/>
          </a:xfrm>
          <a:prstGeom prst="rect">
            <a:avLst/>
          </a:prstGeom>
        </p:spPr>
      </p:pic>
      <p:pic>
        <p:nvPicPr>
          <p:cNvPr id="18" name="Picture 17" descr="hd_02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3438144"/>
            <a:ext cx="2636215" cy="3419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5F5F7"/>
                </a:solidFill>
                <a:latin typeface="Helvetica Neue"/>
              </a:rPr>
              <a:t>影像评分全球第一。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E8E93"/>
                </a:solidFill>
                <a:latin typeface="Helvetica Neue"/>
              </a:rPr>
              <a:t>DxOMark 主摄综合评分 2025年旗舰机型（满分180，越高越好）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691640"/>
          <a:ext cx="1072865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463040" cy="347472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</a:rPr>
              <a:t>Battery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5F5F7"/>
                </a:solidFill>
                <a:latin typeface="Helvetica Neue"/>
              </a:rPr>
              <a:t>效率才是真正的续航。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8E93"/>
                </a:solidFill>
                <a:latin typeface="Helvetica Neue"/>
              </a:rPr>
              <a:t>更小的电池，更长的使用时间 — iOS + A19 Pro 协同优化的力量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10728655" cy="127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877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F5F7"/>
                </a:solidFill>
                <a:latin typeface="Helvetica Neue"/>
              </a:rPr>
              <a:t>iPhone 17 Pro Max  5,088 mAh  🏆 全球 #1 · 3h仅耗9%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2642616"/>
            <a:ext cx="6583680" cy="347472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37760" y="2642616"/>
            <a:ext cx="6583680" cy="347472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58600" y="2569464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0D158"/>
                </a:solidFill>
                <a:latin typeface="Helvetica Neue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4787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AEB2"/>
                </a:solidFill>
                <a:latin typeface="Helvetica Neue"/>
              </a:rPr>
              <a:t>OnePlus 15  7,300 mAh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3602736"/>
            <a:ext cx="6583680" cy="347472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60" y="3602736"/>
            <a:ext cx="5398617" cy="347472"/>
          </a:xfrm>
          <a:prstGeom prst="rect">
            <a:avLst/>
          </a:prstGeom>
          <a:solidFill>
            <a:srgbClr val="3A3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58600" y="3529584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3A3C"/>
                </a:solidFill>
                <a:latin typeface="Helvetica Neue"/>
              </a:rPr>
              <a:t>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07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AEB2"/>
                </a:solidFill>
                <a:latin typeface="Helvetica Neue"/>
              </a:rPr>
              <a:t>Samsung S25 Ultra  5,000 mAh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4562856"/>
            <a:ext cx="6583680" cy="347472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4562856"/>
            <a:ext cx="5135270" cy="347472"/>
          </a:xfrm>
          <a:prstGeom prst="rect">
            <a:avLst/>
          </a:prstGeom>
          <a:solidFill>
            <a:srgbClr val="3A3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58600" y="4489704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3A3C"/>
                </a:solidFill>
                <a:latin typeface="Helvetica Neue"/>
              </a:rPr>
              <a:t>78%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6811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AEB2"/>
                </a:solidFill>
                <a:latin typeface="Helvetica Neue"/>
              </a:rPr>
              <a:t>Google Pixel 9 Pro XL  5,060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5522976"/>
            <a:ext cx="6583680" cy="347472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37760" y="5522976"/>
            <a:ext cx="4871923" cy="347472"/>
          </a:xfrm>
          <a:prstGeom prst="rect">
            <a:avLst/>
          </a:prstGeom>
          <a:solidFill>
            <a:srgbClr val="3A3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58600" y="5449824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3A3C"/>
                </a:solidFill>
                <a:latin typeface="Helvetica Neue"/>
              </a:rPr>
              <a:t>74%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8484A"/>
                </a:solidFill>
                <a:latin typeface="Helvetica Neue"/>
              </a:rPr>
              <a:t>CNET 35款手机横向续航测试 · 3小时全亮度视频流媒体 · iPhone 17 Pro Max 排名第1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5F5F7"/>
                </a:solidFill>
                <a:latin typeface="Helvetica Neue"/>
              </a:rPr>
              <a:t>3小时视频，仅消耗9%电量。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8E93"/>
                </a:solidFill>
                <a:latin typeface="Helvetica Neue"/>
              </a:rPr>
              <a:t>这是 iPhone 17 Pro Max 在 CNET 最严苛测试中的真实表现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474720" cy="356616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47472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30D158"/>
                </a:solidFill>
                <a:latin typeface="Helvetica Neue"/>
              </a:rPr>
              <a:t>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EAEB2"/>
                </a:solidFill>
                <a:latin typeface="Helvetica Neue"/>
              </a:rPr>
              <a:t>35款手机续航排名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6366"/>
                </a:solidFill>
                <a:latin typeface="Helvetica Neue"/>
              </a:rPr>
              <a:t>全球综合第一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03120"/>
            <a:ext cx="3474720" cy="356616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5AC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103120"/>
            <a:ext cx="3474720" cy="508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28600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5AC8FA"/>
                </a:solidFill>
                <a:latin typeface="Helvetica Neue"/>
              </a:rPr>
              <a:t>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657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EAEB2"/>
                </a:solidFill>
                <a:latin typeface="Helvetica Neue"/>
              </a:rPr>
              <a:t>3小时视频耗电量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160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6366"/>
                </a:solidFill>
                <a:latin typeface="Helvetica Neue"/>
              </a:rPr>
              <a:t>CNET测试最优成绩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103120"/>
            <a:ext cx="3474720" cy="356616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103120"/>
            <a:ext cx="3474720" cy="5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28600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9F0A"/>
                </a:solidFill>
                <a:latin typeface="Helvetica Neue"/>
              </a:rPr>
              <a:t>5,088mAh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657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EAEB2"/>
                </a:solidFill>
                <a:latin typeface="Helvetica Neue"/>
              </a:rPr>
              <a:t>Pro Max电池容量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1605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6366"/>
                </a:solidFill>
                <a:latin typeface="Helvetica Neue"/>
              </a:rPr>
              <a:t>iPhone史上最大电池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36366"/>
                </a:solidFill>
                <a:latin typeface="Helvetica Neue"/>
              </a:rPr>
              <a:t>对比：OnePlus 15 搭载 7,300mAh 超大电池，续航测试仍不敌 iPhone 17 Pro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2926080" cy="347472"/>
          </a:xfrm>
          <a:prstGeom prst="round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7"/>
                </a:solidFill>
                <a:latin typeface="Helvetica Neue"/>
              </a:rPr>
              <a:t>iOS 26 · Apple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5F5F7"/>
                </a:solidFill>
                <a:latin typeface="Helvetica Neue"/>
              </a:rPr>
              <a:t>全新外观，更多魔法。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127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5394960" cy="13716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50800" cy="1371600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A8FFF"/>
                </a:solidFill>
                <a:latin typeface="Helvetica Neue"/>
              </a:rPr>
              <a:t>🧠 Apple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设备端AI·隐私保护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5394960" cy="13716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148840"/>
            <a:ext cx="50800" cy="13716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97FF"/>
                </a:solidFill>
                <a:latin typeface="Helvetica Neue"/>
              </a:rPr>
              <a:t>🌐 Live Translation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通话/短信实时翻译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5394960" cy="13716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50800" cy="13716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04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F0A"/>
                </a:solidFill>
                <a:latin typeface="Helvetica Neue"/>
              </a:rPr>
              <a:t>🎨 Image Playground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891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一句话生成高质量图像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703320"/>
            <a:ext cx="5394960" cy="13716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03320"/>
            <a:ext cx="50800" cy="13716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8404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0D158"/>
                </a:solidFill>
                <a:latin typeface="Helvetica Neue"/>
              </a:rPr>
              <a:t>✍️  Writing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3891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智能改写·润色·摘要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5394960" cy="13716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257800"/>
            <a:ext cx="50800" cy="13716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949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7CE68"/>
                </a:solidFill>
                <a:latin typeface="Helvetica Neue"/>
              </a:rPr>
              <a:t>🎯 Siri 全面进化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9436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跨App上下文·真正懂你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5257800"/>
            <a:ext cx="5394960" cy="137160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5257800"/>
            <a:ext cx="50800" cy="13716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3949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AC8FA"/>
                </a:solidFill>
                <a:latin typeface="Helvetica Neue"/>
              </a:rPr>
              <a:t>🔒 Private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9436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联网AI·零数据泄露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2194560" cy="34747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7"/>
                </a:solidFill>
                <a:latin typeface="Helvetica Neue"/>
              </a:rPr>
              <a:t>Ecosystem · 生态整合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5F5F7"/>
                </a:solidFill>
                <a:latin typeface="Helvetica Neue"/>
              </a:rPr>
              <a:t>只有 Apple 才能做到的整合。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8E93"/>
                </a:solidFill>
                <a:latin typeface="Helvetica Neue"/>
              </a:rPr>
              <a:t>iPhone 是生态核心，与每一件 Apple 产品无缝协作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10728655" cy="127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3566160" cy="155448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3566160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97FF"/>
                </a:solidFill>
                <a:latin typeface="Helvetica Neue"/>
              </a:rPr>
              <a:t>⌚ Apple Watch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健康数据·无缝解锁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560320"/>
            <a:ext cx="3566160" cy="155448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62272" y="2560320"/>
            <a:ext cx="356616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0D158"/>
                </a:solidFill>
                <a:latin typeface="Helvetica Neue"/>
              </a:rPr>
              <a:t>🎧 AirPods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自动切换·空间音频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75904" y="4389120"/>
            <a:ext cx="3566160" cy="155448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75904" y="4389120"/>
            <a:ext cx="3566160" cy="50800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58784" y="4572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A8FFF"/>
                </a:solidFill>
                <a:latin typeface="Helvetica Neue"/>
              </a:rPr>
              <a:t>💻 Mac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8784" y="5166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Handoff·Universal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89120"/>
            <a:ext cx="3566160" cy="155448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3566160" cy="5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F0A"/>
                </a:solidFill>
                <a:latin typeface="Helvetica Neue"/>
              </a:rPr>
              <a:t>📟 iPad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Sidecar副屏·Apple Pencil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62272" y="6217920"/>
            <a:ext cx="3566160" cy="155448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62272" y="6217920"/>
            <a:ext cx="3566160" cy="508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6400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7CE68"/>
                </a:solidFill>
                <a:latin typeface="Helvetica Neue"/>
              </a:rPr>
              <a:t>📺 Apple TV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6995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AirPlay一键投屏·4K无损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75904" y="6217920"/>
            <a:ext cx="3566160" cy="155448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75904" y="6217920"/>
            <a:ext cx="3566160" cy="5080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58784" y="6400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AC8FA"/>
                </a:solidFill>
                <a:latin typeface="Helvetica Neue"/>
              </a:rPr>
              <a:t>☁️  iCloud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6995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全端同步·15+年安全记录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  <a:latin typeface="Helvetica Neue"/>
              </a:rPr>
              <a:t>iPhone 17 — 完整规格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27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930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显示屏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9304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6.3" Super Retina XDR OLED · ProMotion 120Hz · 3,000 nits · Dynamic Island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55648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芯片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1051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Apple A19 · 第二代3nm · 6核CPU + 6核GPU · 第二代神经网络引擎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76856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摄像头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317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主摄(OIS) + 48MP 超广角 · 12MP TrueDepth 前摄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存储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5292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256GB / 512GB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19272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741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电池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7413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3,692 mAh · 全天续航 · MagSafe 25W · USB-C 25W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40479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9534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颜色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895343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Black · Lavender · Mist Blue · Sage · 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61688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4165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机身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41655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Ceramic Shield 2 正面 · 彩色玻璃背板 · 铝合金边框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82896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377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尺寸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3776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149.6 × 71.5 × 7.95mm · 177g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404104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589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防水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45896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IP68 · 最深6米，最长30分钟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98017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8017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iOS 26 · Apple Intelligence · 支持6年系统更新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  <a:latin typeface="Helvetica Neue"/>
              </a:rPr>
              <a:t>iPhone Air — 完整规格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27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930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显示屏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9304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6.5" Super Retina XDR OLED · ProMotion 120Hz · Dynamic Island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55648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芯片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1051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Apple A19 Pro + N1神经芯片 + C1X调制解调器 · 三芯协同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76856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厚度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317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0D158"/>
                </a:solidFill>
                <a:latin typeface="Helvetica Neue"/>
              </a:rPr>
              <a:t>5.64mm — iPhone史上最薄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重量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5292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0D158"/>
                </a:solidFill>
                <a:latin typeface="Helvetica Neue"/>
              </a:rPr>
              <a:t>165g — 比iPhone 6更轻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19272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741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摄像头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7413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主摄 + 12MP TrueDepth 前摄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40479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9534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存储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895343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128GB / 256GB / 512GB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61688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4165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电池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41655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全天续航 · USB-C 快充 · MagSafe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82896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377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颜色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3776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Sky Blue · Starlight · Space Black · Lilac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404104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589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机身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45896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0D158"/>
                </a:solidFill>
                <a:latin typeface="Helvetica Neue"/>
              </a:rPr>
              <a:t>钛金属边框 · Ceramic Shield 正面+背面 · 史上最薄iPhone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98017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防水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8017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IP68 · 最深6米，最长30分钟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  <a:latin typeface="Helvetica Neue"/>
              </a:rPr>
              <a:t>iPhone 17 Pro — 完整规格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27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930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显示屏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9304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6.3" Super Retina XDR · Always-On · ProMotion 120Hz · 3,000 nits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55648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芯片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1051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Apple A19 Pro · 第二代3nm · 蒸汽冷却散热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76856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主摄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317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Fusion f/1.78 · 传感器位移光学防抖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超广角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5292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f/2.2 · 微距摄影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19272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741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长焦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7413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9F0A"/>
                </a:solidFill>
                <a:latin typeface="Helvetica Neue"/>
              </a:rPr>
              <a:t>48MP f/2.8 · 8× 光学品质变焦（iPhone史上最长）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40479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9534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前摄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895343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18MP Center Stage f/1.9 · 自动取景追踪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61688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4165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41655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4K 120fps ProRes RAW · Apple Log 2 · genlock · 空间视频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82896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377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存储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3776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256GB / 512GB / 1TB / 2TB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404104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589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电池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45896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4,685 mAh · 30W USB-C · 25W MagSafe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98017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颜色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8017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Cosmic Orange · Deep Blue · Silver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  <a:latin typeface="Helvetica Neue"/>
              </a:rPr>
              <a:t>iPhone 17 Pro Max — 完整规格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27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930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显示屏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9304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6.9" Super Retina XDR · Always-On · ProMotion 120Hz · 3,000 nits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55648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芯片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1051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7CE68"/>
                </a:solidFill>
                <a:latin typeface="Helvetica Neue"/>
              </a:rPr>
              <a:t>Apple A19 Pro · 第二代3nm · 蒸汽冷却 · 全球性能第一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76856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主摄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317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Fusion f/1.78 · 第二代传感器位移防抖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超广角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5292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f/2.2 · 更高分辨率微距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19272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741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长焦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7413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48MP f/2.8 · 8× 光学品质变焦 · 100mm等效焦距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40479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9534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前摄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895343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18MP Center Stage f/1.9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61688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4165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416552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4K 120fps ProRes RAW · Apple Log 2 · genlock · 空间视频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82896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377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存储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3776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256GB / 512GB / 1TB / 2TB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404104"/>
            <a:ext cx="10728655" cy="45720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589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电池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45896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7CE68"/>
                </a:solidFill>
                <a:latin typeface="Helvetica Neue"/>
              </a:rPr>
              <a:t>5,088 mAh — iPhone史上最大 · 全球续航测试第一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10728655" cy="457200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98017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Helvetica Neue"/>
              </a:rPr>
              <a:t>颜色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8017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  <a:latin typeface="Helvetica Neue"/>
              </a:rPr>
              <a:t>Cosmic Orange · Deep Blue · Silver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F5F7"/>
                </a:solidFill>
                <a:latin typeface="Helvetica Neue"/>
              </a:rPr>
              <a:t>四款对比，一目了然。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24128"/>
            <a:ext cx="10728655" cy="127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36366"/>
                </a:solidFill>
                <a:latin typeface="Helvetica Neue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15568"/>
            <a:ext cx="2240280" cy="594360"/>
          </a:xfrm>
          <a:prstGeom prst="rect">
            <a:avLst/>
          </a:prstGeom>
          <a:solidFill>
            <a:srgbClr val="1A1A1C"/>
          </a:solidFill>
          <a:ln w="1270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170432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997FF"/>
                </a:solidFill>
                <a:latin typeface="Helvetica Neue"/>
              </a:rPr>
              <a:t>iPhone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115568"/>
            <a:ext cx="2240280" cy="594360"/>
          </a:xfrm>
          <a:prstGeom prst="rect">
            <a:avLst/>
          </a:prstGeom>
          <a:solidFill>
            <a:srgbClr val="1A1A1C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170432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0D158"/>
                </a:solidFill>
                <a:latin typeface="Helvetica Neue"/>
              </a:rPr>
              <a:t>iPhone 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0" y="1115568"/>
            <a:ext cx="2240280" cy="594360"/>
          </a:xfrm>
          <a:prstGeom prst="rect">
            <a:avLst/>
          </a:prstGeom>
          <a:solidFill>
            <a:srgbClr val="1A1A1C"/>
          </a:solidFill>
          <a:ln w="12700"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70432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0A"/>
                </a:solidFill>
                <a:latin typeface="Helvetica Neue"/>
              </a:rPr>
              <a:t>17 Pro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75520" y="1115568"/>
            <a:ext cx="2240280" cy="594360"/>
          </a:xfrm>
          <a:prstGeom prst="rect">
            <a:avLst/>
          </a:prstGeom>
          <a:solidFill>
            <a:srgbClr val="1A1A1C"/>
          </a:solidFill>
          <a:ln w="12700">
            <a:solidFill>
              <a:srgbClr val="F7C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1170432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7CE68"/>
                </a:solidFill>
                <a:latin typeface="Helvetica Neue"/>
              </a:rPr>
              <a:t>Pro 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0136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8836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起售价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80136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18836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¥5,999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180136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8836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¥6,999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180136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18836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¥7,999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180136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18836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¥9,999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35000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43230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屏幕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35000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243230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6.3"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0" y="235000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0" y="243230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6.5"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0" y="235000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243230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6.3"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235000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243230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6.9"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89864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9809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芯片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289864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29809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A19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289864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29809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A19 Pro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0" y="289864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0" y="29809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A19 Pro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289864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66960" y="29809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A19 Pro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447287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52958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厚度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3447287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34640" y="352958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7.95mm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20640" y="3447287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352958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5.64mm 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47287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0" y="352958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8.0mm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3447287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352958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8.3mm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99592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07822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后摄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399592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407822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双48MP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0" y="399592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0" y="407822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单48MP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98080" y="399592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0" y="407822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三48MP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75520" y="399592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66960" y="407822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三48MP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54456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6268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最长变焦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0" y="454456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34640" y="46268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2×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20640" y="454456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0" y="46268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2×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498080" y="454456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89520" y="46268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8×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875520" y="454456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66960" y="462686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7"/>
                </a:solidFill>
                <a:latin typeface="Helvetica Neue"/>
              </a:rPr>
              <a:t>8×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5093207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517550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ProMotion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0" y="5093207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834640" y="517550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20640" y="5093207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0" y="517550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98080" y="5093207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20" y="517550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875520" y="5093207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966960" y="5175503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5760" y="564184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5724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Always-On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0" y="564184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834640" y="5724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A3A3C"/>
                </a:solidFill>
                <a:latin typeface="Helvetica Neue"/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20640" y="564184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12080" y="5724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A3A3C"/>
                </a:solidFill>
                <a:latin typeface="Helvetica Neue"/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498080" y="564184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89520" y="5724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75520" y="5641848"/>
            <a:ext cx="2240280" cy="521207"/>
          </a:xfrm>
          <a:prstGeom prst="rect">
            <a:avLst/>
          </a:prstGeom>
          <a:solidFill>
            <a:srgbClr val="15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0" y="5724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6190488"/>
            <a:ext cx="2240280" cy="52120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7200" y="627278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366"/>
                </a:solidFill>
                <a:latin typeface="Helvetica Neue"/>
              </a:rPr>
              <a:t>ProRes视频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43200" y="619048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834640" y="627278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A3A3C"/>
                </a:solidFill>
                <a:latin typeface="Helvetica Neue"/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120640" y="619048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12080" y="627278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A3A3C"/>
                </a:solidFill>
                <a:latin typeface="Helvetica Neue"/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498080" y="619048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589520" y="627278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875520" y="6190488"/>
            <a:ext cx="2240280" cy="521207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966960" y="627278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0D158"/>
                </a:solidFill>
                <a:latin typeface="Helvetica Neue"/>
              </a:rPr>
              <a:t>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5F5F7"/>
                </a:solidFill>
                <a:latin typeface="Helvetica Neue"/>
              </a:rPr>
              <a:t>代际性能持续跃升。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E8E93"/>
                </a:solidFill>
                <a:latin typeface="Helvetica Neue"/>
              </a:rPr>
              <a:t>Apple 芯片多核跑分历代演进 — Geekbench 6（越高越好）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691640"/>
          <a:ext cx="1072865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5F5F7"/>
                </a:solidFill>
                <a:latin typeface="Helvetica Neue"/>
              </a:rPr>
              <a:t>续航持续突破。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E8E93"/>
                </a:solidFill>
                <a:latin typeface="Helvetica Neue"/>
              </a:rPr>
              <a:t>Pro Max 视频播放续航时长（小时）历代演进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691640"/>
          <a:ext cx="1072865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F5F7"/>
                </a:solidFill>
                <a:latin typeface="Helvetica Neue"/>
              </a:rPr>
              <a:t>精密工艺，每一处都值得细看。</a:t>
            </a:r>
          </a:p>
        </p:txBody>
      </p:sp>
      <p:pic>
        <p:nvPicPr>
          <p:cNvPr id="4" name="Picture 3" descr="hd_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97280"/>
            <a:ext cx="3977639" cy="3017520"/>
          </a:xfrm>
          <a:prstGeom prst="rect">
            <a:avLst/>
          </a:prstGeom>
        </p:spPr>
      </p:pic>
      <p:pic>
        <p:nvPicPr>
          <p:cNvPr id="5" name="Picture 4" descr="hd_02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977639" cy="3017520"/>
          </a:xfrm>
          <a:prstGeom prst="rect">
            <a:avLst/>
          </a:prstGeom>
        </p:spPr>
      </p:pic>
      <p:pic>
        <p:nvPicPr>
          <p:cNvPr id="6" name="Picture 5" descr="hd_0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097280"/>
            <a:ext cx="3870655" cy="3017520"/>
          </a:xfrm>
          <a:prstGeom prst="rect">
            <a:avLst/>
          </a:prstGeom>
        </p:spPr>
      </p:pic>
      <p:pic>
        <p:nvPicPr>
          <p:cNvPr id="7" name="Picture 6" descr="lifestyle_0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4251960"/>
            <a:ext cx="3977639" cy="2514600"/>
          </a:xfrm>
          <a:prstGeom prst="rect">
            <a:avLst/>
          </a:prstGeom>
        </p:spPr>
      </p:pic>
      <p:pic>
        <p:nvPicPr>
          <p:cNvPr id="8" name="Picture 7" descr="lifestyle_0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251960"/>
            <a:ext cx="3977639" cy="2514600"/>
          </a:xfrm>
          <a:prstGeom prst="rect">
            <a:avLst/>
          </a:prstGeom>
        </p:spPr>
      </p:pic>
      <p:pic>
        <p:nvPicPr>
          <p:cNvPr id="9" name="Picture 8" descr="lifestyle_0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79" y="4251960"/>
            <a:ext cx="3870655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40690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36366"/>
                </a:solidFill>
                <a:latin typeface="Helvetica Neue"/>
              </a:rPr>
              <a:t>摄像头模组特写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690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36366"/>
                </a:solidFill>
                <a:latin typeface="Helvetica Neue"/>
              </a:rPr>
              <a:t>铝合金一体机身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40690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36366"/>
                </a:solidFill>
                <a:latin typeface="Helvetica Neue"/>
              </a:rPr>
              <a:t>背部细节工艺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5F5F7"/>
                </a:solidFill>
                <a:latin typeface="Helvetica Neue"/>
              </a:rPr>
              <a:t>为什么选择 iPhone 17 系列？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8E93"/>
                </a:solidFill>
                <a:latin typeface="Helvetica Neue"/>
              </a:rPr>
              <a:t>六个理由，让你下定决心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0800" cy="141732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97FF"/>
                </a:solidFill>
                <a:latin typeface="Helvetica Neue"/>
              </a:rPr>
              <a:t>🎨 外观质感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505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EAEB2"/>
                </a:solidFill>
                <a:latin typeface="Helvetica Neue"/>
              </a:rPr>
              <a:t>每一道曲线精密计算·Ceramic Shield2·手感奢华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539496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800" cy="141732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874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F0A"/>
                </a:solidFill>
                <a:latin typeface="Helvetica Neue"/>
              </a:rPr>
              <a:t>⚡ 性能领先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4505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EAEB2"/>
                </a:solidFill>
                <a:latin typeface="Helvetica Neue"/>
              </a:rPr>
              <a:t>A19 Pro全球移动端第一·30%+超越Android·卡顿绝迹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539496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50800" cy="141732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0D158"/>
                </a:solidFill>
                <a:latin typeface="Helvetica Neue"/>
              </a:rPr>
              <a:t>📸 影像真实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507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EAEB2"/>
                </a:solidFill>
                <a:latin typeface="Helvetica Neue"/>
              </a:rPr>
              <a:t>三颗48MP · 8×变焦 · DxOMark #1 · 4K120fps ProRes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337560"/>
            <a:ext cx="539496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337560"/>
            <a:ext cx="50800" cy="141732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4747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7CE68"/>
                </a:solidFill>
                <a:latin typeface="Helvetica Neue"/>
              </a:rPr>
              <a:t>🔋 续航更好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0507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EAEB2"/>
                </a:solidFill>
                <a:latin typeface="Helvetica Neue"/>
              </a:rPr>
              <a:t>5,088mAh+iOS优化 · CNET 35机第一 · 3h仅耗9%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37760"/>
            <a:ext cx="539496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937760"/>
            <a:ext cx="50800" cy="1417320"/>
          </a:xfrm>
          <a:prstGeom prst="rect">
            <a:avLst/>
          </a:prstGeom>
          <a:solidFill>
            <a:srgbClr val="DA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A8FFF"/>
                </a:solidFill>
                <a:latin typeface="Helvetica Neue"/>
              </a:rPr>
              <a:t>🌐 生态闭环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6509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EAEB2"/>
                </a:solidFill>
                <a:latin typeface="Helvetica Neue"/>
              </a:rPr>
              <a:t>iPhone+Mac+iPad+Watch · 无缝协作 · 生产力翻倍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937760"/>
            <a:ext cx="5394960" cy="141732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937760"/>
            <a:ext cx="50800" cy="1417320"/>
          </a:xfrm>
          <a:prstGeom prst="rect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0749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AC8FA"/>
                </a:solidFill>
                <a:latin typeface="Helvetica Neue"/>
              </a:rPr>
              <a:t>🛡️ 系统丝滑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6509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EAEB2"/>
                </a:solidFill>
                <a:latin typeface="Helvetica Neue"/>
              </a:rPr>
              <a:t>iOS 26滑动如丝 · 6年系统更新 · Apple Intelligence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5F5F7"/>
                </a:solidFill>
                <a:latin typeface="Helvetica Neue"/>
              </a:rPr>
              <a:t>今天，就选你的下一部 iPhone。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27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2743200" cy="512064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743200" cy="508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17_fro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1148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F5F7"/>
                </a:solidFill>
                <a:latin typeface="Helvetica Neue"/>
              </a:rPr>
              <a:t>iPhone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997FF"/>
                </a:solidFill>
                <a:latin typeface="Helvetica Neue"/>
              </a:rPr>
              <a:t>从 ¥5,999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834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256GB起 · 5色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86400"/>
            <a:ext cx="2011680" cy="502920"/>
          </a:xfrm>
          <a:prstGeom prst="round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F5F7"/>
                </a:solidFill>
                <a:latin typeface="Helvetica Neue"/>
              </a:rPr>
              <a:t>立即购买 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371600"/>
            <a:ext cx="2743200" cy="512064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5848" y="1371600"/>
            <a:ext cx="2743200" cy="5080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r_re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8" y="1417320"/>
            <a:ext cx="2560320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1148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F5F7"/>
                </a:solidFill>
                <a:latin typeface="Helvetica Neue"/>
              </a:rPr>
              <a:t>iPhone 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45537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0D158"/>
                </a:solidFill>
                <a:latin typeface="Helvetica Neue"/>
              </a:rPr>
              <a:t>从 ¥6,999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49834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128GB起 · 史上最薄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21608" y="5486400"/>
            <a:ext cx="2011680" cy="50292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Helvetica Neue"/>
              </a:rPr>
              <a:t>立即购买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0216" y="1371600"/>
            <a:ext cx="2743200" cy="512064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0216" y="1371600"/>
            <a:ext cx="2743200" cy="5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ro_fro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1417320"/>
            <a:ext cx="2560320" cy="2560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7376" y="41148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F5F7"/>
                </a:solidFill>
                <a:latin typeface="Helvetica Neue"/>
              </a:rPr>
              <a:t>iPhone 17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5537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0A"/>
                </a:solidFill>
                <a:latin typeface="Helvetica Neue"/>
              </a:rPr>
              <a:t>从 ¥7,999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6" y="49834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256GB起 · Pro影像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5976" y="5486400"/>
            <a:ext cx="2011680" cy="502920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F5F7"/>
                </a:solidFill>
                <a:latin typeface="Helvetica Neue"/>
              </a:rPr>
              <a:t>立即购买 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44584" y="1371600"/>
            <a:ext cx="2743200" cy="5120640"/>
          </a:xfrm>
          <a:prstGeom prst="roundRect">
            <a:avLst/>
          </a:prstGeom>
          <a:solidFill>
            <a:srgbClr val="1A1A1C"/>
          </a:solidFill>
          <a:ln w="12700">
            <a:solidFill>
              <a:srgbClr val="F7C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44584" y="1371600"/>
            <a:ext cx="2743200" cy="50800"/>
          </a:xfrm>
          <a:prstGeom prst="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ro_max_gs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6024" y="1417320"/>
            <a:ext cx="2560320" cy="2560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381744" y="41148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F5F7"/>
                </a:solidFill>
                <a:latin typeface="Helvetica Neue"/>
              </a:rPr>
              <a:t>Pro Max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81744" y="45537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7CE68"/>
                </a:solidFill>
                <a:latin typeface="Helvetica Neue"/>
              </a:rPr>
              <a:t>从 ¥9,999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81744" y="49834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8E93"/>
                </a:solidFill>
                <a:latin typeface="Helvetica Neue"/>
              </a:rPr>
              <a:t>256GB~2TB · 续航第一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10344" y="5486400"/>
            <a:ext cx="2011680" cy="502920"/>
          </a:xfrm>
          <a:prstGeom prst="roundRect">
            <a:avLst/>
          </a:prstGeom>
          <a:solidFill>
            <a:srgbClr val="F7C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10344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Helvetica Neue"/>
              </a:rPr>
              <a:t>立即购买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8484A"/>
                </a:solidFill>
                <a:latin typeface="Helvetica Neue"/>
              </a:rPr>
              <a:t>apple.com/cn  ·  以旧换新  ·  分期免息  ·  教育优惠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36366"/>
                </a:solidFill>
                <a:latin typeface="Helvetica Neue"/>
              </a:rPr>
              <a:t>Apple ·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5F5F7"/>
                </a:solidFill>
                <a:latin typeface="Helvetica Neue"/>
              </a:rPr>
              <a:t>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2997FF"/>
                </a:solidFill>
                <a:latin typeface="Helvetica Neue"/>
              </a:rPr>
              <a:t>Different.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E8E93"/>
                </a:solidFill>
                <a:latin typeface="Helvetica Neue"/>
              </a:rPr>
              <a:t>iPhone 17 系列 · 重新定义每一种可能。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91440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791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  <a:latin typeface="Helvetica Neue"/>
              </a:rPr>
              <a:t>外观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55648" y="4754880"/>
            <a:ext cx="91440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55648" y="4791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0D158"/>
                </a:solidFill>
                <a:latin typeface="Helvetica Neue"/>
              </a:rPr>
              <a:t>续航#1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79776" y="4754880"/>
            <a:ext cx="91440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6" y="4791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9F0A"/>
                </a:solidFill>
                <a:latin typeface="Helvetica Neue"/>
              </a:rPr>
              <a:t>影像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03904" y="4754880"/>
            <a:ext cx="91440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4791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A8FFF"/>
                </a:solidFill>
                <a:latin typeface="Helvetica Neue"/>
              </a:rPr>
              <a:t>芯片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28032" y="4754880"/>
            <a:ext cx="914400" cy="347472"/>
          </a:xfrm>
          <a:prstGeom prst="round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032" y="4791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AC8FA"/>
                </a:solidFill>
                <a:latin typeface="Helvetica Neue"/>
              </a:rPr>
              <a:t>生态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978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997FF"/>
                </a:solidFill>
                <a:latin typeface="Helvetica Neue"/>
              </a:rPr>
              <a:t>apple.com</a:t>
            </a:r>
          </a:p>
        </p:txBody>
      </p:sp>
      <p:pic>
        <p:nvPicPr>
          <p:cNvPr id="18" name="Picture 17" descr="hd_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"/>
            <a:ext cx="6400800" cy="4572000"/>
          </a:xfrm>
          <a:prstGeom prst="rect">
            <a:avLst/>
          </a:prstGeom>
        </p:spPr>
      </p:pic>
      <p:pic>
        <p:nvPicPr>
          <p:cNvPr id="19" name="Picture 18" descr="hd_02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709160"/>
            <a:ext cx="3108960" cy="2057400"/>
          </a:xfrm>
          <a:prstGeom prst="rect">
            <a:avLst/>
          </a:prstGeom>
        </p:spPr>
      </p:pic>
      <p:pic>
        <p:nvPicPr>
          <p:cNvPr id="20" name="Picture 19" descr="hd_0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4709160"/>
            <a:ext cx="3017520" cy="205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